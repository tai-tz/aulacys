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3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39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4.png"/><Relationship Id="rId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17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914400"/>
            <a:ext cx="1920240" cy="1920240"/>
          </a:xfrm>
          <a:prstGeom prst="ellipse">
            <a:avLst/>
          </a:prstGeom>
          <a:solidFill>
            <a:srgbClr val="FEF1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365760"/>
            <a:ext cx="2291486" cy="310896"/>
          </a:xfrm>
          <a:prstGeom prst="roundRect">
            <a:avLst>
              <a:gd name="adj" fmla="val 50000"/>
            </a:avLst>
          </a:prstGeom>
          <a:solidFill>
            <a:srgbClr val="FEF1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2291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37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1 · BÀI TOÁN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VAY TÍN CHẤP TIÊU DÙNG CÁ NHÂN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trình vay tín chấp tiêu dùng cá nhân gồm </a:t>
            </a:r>
            <a:r>
              <a:rPr lang="en-US" sz="2100" b="1" dirty="0">
                <a:solidFill>
                  <a:srgbClr val="F37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bước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1755648"/>
            <a:ext cx="1615440" cy="2395728"/>
          </a:xfrm>
          <a:prstGeom prst="roundRect">
            <a:avLst>
              <a:gd name="adj" fmla="val 4528"/>
            </a:avLst>
          </a:prstGeom>
          <a:solidFill>
            <a:srgbClr val="FFF9F6"/>
          </a:solidFill>
          <a:ln w="12700">
            <a:solidFill>
              <a:srgbClr val="EF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8096" y="1883664"/>
            <a:ext cx="292608" cy="292608"/>
          </a:xfrm>
          <a:prstGeom prst="ellipse">
            <a:avLst/>
          </a:prstGeom>
          <a:solidFill>
            <a:srgbClr val="1D2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8096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64336" y="2066544"/>
            <a:ext cx="566928" cy="566928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icons/step1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737" y="2213945"/>
            <a:ext cx="272125" cy="27212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4944" y="2779776"/>
            <a:ext cx="1505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b="1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Tiếp nhận hồ sơ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94944" y="3273552"/>
            <a:ext cx="1505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41248" y="3584448"/>
            <a:ext cx="1213104" cy="10973"/>
          </a:xfrm>
          <a:prstGeom prst="rect">
            <a:avLst/>
          </a:prstGeom>
          <a:solidFill>
            <a:srgbClr val="EFDC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94944" y="3657600"/>
            <a:ext cx="1505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50" b="1" kern="0" spc="5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 </a:t>
            </a:r>
            <a:r>
              <a:rPr lang="en-US" sz="850" b="1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2269236" y="2258568"/>
            <a:ext cx="210312" cy="182880"/>
          </a:xfrm>
          <a:prstGeom prst="chevron">
            <a:avLst/>
          </a:prstGeom>
          <a:solidFill>
            <a:srgbClr val="F0A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493264" y="1755648"/>
            <a:ext cx="1615440" cy="2395728"/>
          </a:xfrm>
          <a:prstGeom prst="roundRect">
            <a:avLst>
              <a:gd name="adj" fmla="val 4528"/>
            </a:avLst>
          </a:prstGeom>
          <a:solidFill>
            <a:srgbClr val="FFF9F6"/>
          </a:solidFill>
          <a:ln w="12700">
            <a:solidFill>
              <a:srgbClr val="EF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621280" y="1883664"/>
            <a:ext cx="292608" cy="292608"/>
          </a:xfrm>
          <a:prstGeom prst="ellipse">
            <a:avLst/>
          </a:prstGeom>
          <a:solidFill>
            <a:srgbClr val="1D2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621280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017520" y="2066544"/>
            <a:ext cx="566928" cy="566928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icons/step2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921" y="2213945"/>
            <a:ext cx="272125" cy="27212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548128" y="2779776"/>
            <a:ext cx="1505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b="1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Đề xuất phương án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2548128" y="3273552"/>
            <a:ext cx="1505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2694432" y="3584448"/>
            <a:ext cx="1213104" cy="10973"/>
          </a:xfrm>
          <a:prstGeom prst="rect">
            <a:avLst/>
          </a:prstGeom>
          <a:solidFill>
            <a:srgbClr val="EFDC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2548128" y="3657600"/>
            <a:ext cx="1505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50" b="1" kern="0" spc="50" dirty="0">
                <a:solidFill>
                  <a:srgbClr val="F37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 </a:t>
            </a:r>
            <a:r>
              <a:rPr lang="en-US" sz="850" b="1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Đề xuất PA vay</a:t>
            </a:r>
            <a:endParaRPr lang="en-US" sz="650" dirty="0"/>
          </a:p>
        </p:txBody>
      </p:sp>
      <p:sp>
        <p:nvSpPr>
          <p:cNvPr id="26" name="Shape 22"/>
          <p:cNvSpPr/>
          <p:nvPr/>
        </p:nvSpPr>
        <p:spPr>
          <a:xfrm>
            <a:off x="4122420" y="2258568"/>
            <a:ext cx="210312" cy="182880"/>
          </a:xfrm>
          <a:prstGeom prst="chevron">
            <a:avLst/>
          </a:prstGeom>
          <a:solidFill>
            <a:srgbClr val="F0A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4346448" y="1755648"/>
            <a:ext cx="1615440" cy="2395728"/>
          </a:xfrm>
          <a:prstGeom prst="roundRect">
            <a:avLst>
              <a:gd name="adj" fmla="val 4528"/>
            </a:avLst>
          </a:prstGeom>
          <a:solidFill>
            <a:srgbClr val="FFF9F6"/>
          </a:solidFill>
          <a:ln w="12700">
            <a:solidFill>
              <a:srgbClr val="EF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4474464" y="1883664"/>
            <a:ext cx="292608" cy="292608"/>
          </a:xfrm>
          <a:prstGeom prst="ellipse">
            <a:avLst/>
          </a:prstGeom>
          <a:solidFill>
            <a:srgbClr val="1D2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474464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870704" y="2066544"/>
            <a:ext cx="566928" cy="566928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2" descr="icons/step3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105" y="2213945"/>
            <a:ext cx="272125" cy="272125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401312" y="2779776"/>
            <a:ext cx="1505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b="1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Thẩm định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4401312" y="3273552"/>
            <a:ext cx="1505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Bộ phận thẩm định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4547616" y="3584448"/>
            <a:ext cx="1213104" cy="10973"/>
          </a:xfrm>
          <a:prstGeom prst="rect">
            <a:avLst/>
          </a:prstGeom>
          <a:solidFill>
            <a:srgbClr val="EFDC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4401312" y="3657600"/>
            <a:ext cx="1505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50" b="1" kern="0" spc="50" dirty="0">
                <a:solidFill>
                  <a:srgbClr val="F37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 </a:t>
            </a:r>
            <a:r>
              <a:rPr lang="en-US" sz="850" b="1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Đề xuất HĐTD</a:t>
            </a:r>
            <a:endParaRPr lang="en-US" sz="650" dirty="0"/>
          </a:p>
        </p:txBody>
      </p:sp>
      <p:sp>
        <p:nvSpPr>
          <p:cNvPr id="36" name="Shape 31"/>
          <p:cNvSpPr/>
          <p:nvPr/>
        </p:nvSpPr>
        <p:spPr>
          <a:xfrm>
            <a:off x="5975604" y="2258568"/>
            <a:ext cx="210312" cy="182880"/>
          </a:xfrm>
          <a:prstGeom prst="chevron">
            <a:avLst/>
          </a:prstGeom>
          <a:solidFill>
            <a:srgbClr val="F0A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6199632" y="1755648"/>
            <a:ext cx="1615440" cy="2395728"/>
          </a:xfrm>
          <a:prstGeom prst="roundRect">
            <a:avLst>
              <a:gd name="adj" fmla="val 4528"/>
            </a:avLst>
          </a:prstGeom>
          <a:solidFill>
            <a:srgbClr val="FFF9F6"/>
          </a:solidFill>
          <a:ln w="12700">
            <a:solidFill>
              <a:srgbClr val="EF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6327648" y="1883664"/>
            <a:ext cx="292608" cy="292608"/>
          </a:xfrm>
          <a:prstGeom prst="ellipse">
            <a:avLst/>
          </a:prstGeom>
          <a:solidFill>
            <a:srgbClr val="1D2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6327648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723888" y="2066544"/>
            <a:ext cx="566928" cy="566928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3" descr="icons/step4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1289" y="2213945"/>
            <a:ext cx="272125" cy="272125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254496" y="2779776"/>
            <a:ext cx="1505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b="1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Phê duyệt</a:t>
            </a:r>
            <a:endParaRPr lang="en-US" sz="1150" dirty="0"/>
          </a:p>
        </p:txBody>
      </p:sp>
      <p:sp>
        <p:nvSpPr>
          <p:cNvPr id="43" name="Text 37"/>
          <p:cNvSpPr/>
          <p:nvPr/>
        </p:nvSpPr>
        <p:spPr>
          <a:xfrm>
            <a:off x="6254496" y="3273552"/>
            <a:ext cx="1505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Người có thẩm quyền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6400800" y="3584448"/>
            <a:ext cx="1213104" cy="10973"/>
          </a:xfrm>
          <a:prstGeom prst="rect">
            <a:avLst/>
          </a:prstGeom>
          <a:solidFill>
            <a:srgbClr val="EFDC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6254496" y="3657600"/>
            <a:ext cx="1505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50" b="1" kern="0" spc="50" dirty="0">
                <a:solidFill>
                  <a:srgbClr val="F37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 </a:t>
            </a:r>
            <a:r>
              <a:rPr lang="en-US" sz="850" b="1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HĐTD đã ký</a:t>
            </a:r>
            <a:endParaRPr lang="en-US" sz="650" dirty="0"/>
          </a:p>
        </p:txBody>
      </p:sp>
      <p:sp>
        <p:nvSpPr>
          <p:cNvPr id="46" name="Shape 40"/>
          <p:cNvSpPr/>
          <p:nvPr/>
        </p:nvSpPr>
        <p:spPr>
          <a:xfrm>
            <a:off x="7828788" y="2258568"/>
            <a:ext cx="210312" cy="182880"/>
          </a:xfrm>
          <a:prstGeom prst="chevron">
            <a:avLst/>
          </a:prstGeom>
          <a:solidFill>
            <a:srgbClr val="F0A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8052816" y="1755648"/>
            <a:ext cx="1615440" cy="2395728"/>
          </a:xfrm>
          <a:prstGeom prst="roundRect">
            <a:avLst>
              <a:gd name="adj" fmla="val 4528"/>
            </a:avLst>
          </a:prstGeom>
          <a:solidFill>
            <a:srgbClr val="FFF9F6"/>
          </a:solidFill>
          <a:ln w="12700">
            <a:solidFill>
              <a:srgbClr val="EF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2"/>
          <p:cNvSpPr/>
          <p:nvPr/>
        </p:nvSpPr>
        <p:spPr>
          <a:xfrm>
            <a:off x="8180832" y="1883664"/>
            <a:ext cx="292608" cy="292608"/>
          </a:xfrm>
          <a:prstGeom prst="ellipse">
            <a:avLst/>
          </a:prstGeom>
          <a:solidFill>
            <a:srgbClr val="1D2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8180832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8577072" y="2066544"/>
            <a:ext cx="566928" cy="566928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4" descr="icons/step5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4473" y="2213945"/>
            <a:ext cx="272125" cy="272125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8107680" y="2779776"/>
            <a:ext cx="1505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b="1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ngân</a:t>
            </a:r>
            <a:endParaRPr lang="en-US" sz="1150" dirty="0"/>
          </a:p>
        </p:txBody>
      </p:sp>
      <p:sp>
        <p:nvSpPr>
          <p:cNvPr id="53" name="Text 46"/>
          <p:cNvSpPr/>
          <p:nvPr/>
        </p:nvSpPr>
        <p:spPr>
          <a:xfrm>
            <a:off x="8107680" y="3273552"/>
            <a:ext cx="1505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 hỗ trợ tín dụng</a:t>
            </a:r>
            <a:endParaRPr lang="en-US" sz="850" dirty="0"/>
          </a:p>
        </p:txBody>
      </p:sp>
      <p:sp>
        <p:nvSpPr>
          <p:cNvPr id="54" name="Shape 47"/>
          <p:cNvSpPr/>
          <p:nvPr/>
        </p:nvSpPr>
        <p:spPr>
          <a:xfrm>
            <a:off x="8253984" y="3584448"/>
            <a:ext cx="1213104" cy="10973"/>
          </a:xfrm>
          <a:prstGeom prst="rect">
            <a:avLst/>
          </a:prstGeom>
          <a:solidFill>
            <a:srgbClr val="EFDC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8"/>
          <p:cNvSpPr/>
          <p:nvPr/>
        </p:nvSpPr>
        <p:spPr>
          <a:xfrm>
            <a:off x="8107680" y="3657600"/>
            <a:ext cx="1505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50" b="1" kern="0" spc="50" dirty="0">
                <a:solidFill>
                  <a:srgbClr val="F37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 </a:t>
            </a:r>
            <a:r>
              <a:rPr lang="en-US" sz="850" b="1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Khế ước nhận nợ</a:t>
            </a:r>
            <a:endParaRPr lang="en-US" sz="650" dirty="0"/>
          </a:p>
        </p:txBody>
      </p:sp>
      <p:sp>
        <p:nvSpPr>
          <p:cNvPr id="56" name="Shape 49"/>
          <p:cNvSpPr/>
          <p:nvPr/>
        </p:nvSpPr>
        <p:spPr>
          <a:xfrm>
            <a:off x="9681972" y="2258568"/>
            <a:ext cx="210312" cy="182880"/>
          </a:xfrm>
          <a:prstGeom prst="chevron">
            <a:avLst/>
          </a:prstGeom>
          <a:solidFill>
            <a:srgbClr val="F0A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0"/>
          <p:cNvSpPr/>
          <p:nvPr/>
        </p:nvSpPr>
        <p:spPr>
          <a:xfrm>
            <a:off x="9906000" y="1755648"/>
            <a:ext cx="1615440" cy="2395728"/>
          </a:xfrm>
          <a:prstGeom prst="roundRect">
            <a:avLst>
              <a:gd name="adj" fmla="val 4528"/>
            </a:avLst>
          </a:prstGeom>
          <a:solidFill>
            <a:srgbClr val="FFF9F6"/>
          </a:solidFill>
          <a:ln w="12700">
            <a:solidFill>
              <a:srgbClr val="EF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1"/>
          <p:cNvSpPr/>
          <p:nvPr/>
        </p:nvSpPr>
        <p:spPr>
          <a:xfrm>
            <a:off x="10034016" y="1883664"/>
            <a:ext cx="292608" cy="292608"/>
          </a:xfrm>
          <a:prstGeom prst="ellipse">
            <a:avLst/>
          </a:prstGeom>
          <a:solidFill>
            <a:srgbClr val="1D2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2"/>
          <p:cNvSpPr/>
          <p:nvPr/>
        </p:nvSpPr>
        <p:spPr>
          <a:xfrm>
            <a:off x="10034016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Shape 53"/>
          <p:cNvSpPr/>
          <p:nvPr/>
        </p:nvSpPr>
        <p:spPr>
          <a:xfrm>
            <a:off x="10430256" y="2066544"/>
            <a:ext cx="566928" cy="566928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1" name="Image 5" descr="icons/step6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7657" y="2213945"/>
            <a:ext cx="272125" cy="272125"/>
          </a:xfrm>
          <a:prstGeom prst="rect">
            <a:avLst/>
          </a:prstGeom>
        </p:spPr>
      </p:pic>
      <p:sp>
        <p:nvSpPr>
          <p:cNvPr id="62" name="Text 54"/>
          <p:cNvSpPr/>
          <p:nvPr/>
        </p:nvSpPr>
        <p:spPr>
          <a:xfrm>
            <a:off x="9960864" y="2779776"/>
            <a:ext cx="1505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b="1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tra sử dụng vốn</a:t>
            </a:r>
            <a:endParaRPr lang="en-US" sz="1150" dirty="0"/>
          </a:p>
        </p:txBody>
      </p:sp>
      <p:sp>
        <p:nvSpPr>
          <p:cNvPr id="63" name="Text 55"/>
          <p:cNvSpPr/>
          <p:nvPr/>
        </p:nvSpPr>
        <p:spPr>
          <a:xfrm>
            <a:off x="9960864" y="3273552"/>
            <a:ext cx="1505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 hỗ trợ tín dụng</a:t>
            </a:r>
            <a:endParaRPr lang="en-US" sz="850" dirty="0"/>
          </a:p>
        </p:txBody>
      </p:sp>
      <p:sp>
        <p:nvSpPr>
          <p:cNvPr id="64" name="Shape 56"/>
          <p:cNvSpPr/>
          <p:nvPr/>
        </p:nvSpPr>
        <p:spPr>
          <a:xfrm>
            <a:off x="10107168" y="3584448"/>
            <a:ext cx="1213104" cy="10973"/>
          </a:xfrm>
          <a:prstGeom prst="rect">
            <a:avLst/>
          </a:prstGeom>
          <a:solidFill>
            <a:srgbClr val="EFDC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57"/>
          <p:cNvSpPr/>
          <p:nvPr/>
        </p:nvSpPr>
        <p:spPr>
          <a:xfrm>
            <a:off x="9960864" y="3657600"/>
            <a:ext cx="1505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50" b="1" kern="0" spc="5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 </a:t>
            </a:r>
            <a:r>
              <a:rPr lang="en-US" sz="850" b="1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650" dirty="0"/>
          </a:p>
        </p:txBody>
      </p:sp>
      <p:sp>
        <p:nvSpPr>
          <p:cNvPr id="66" name="Shape 58"/>
          <p:cNvSpPr/>
          <p:nvPr/>
        </p:nvSpPr>
        <p:spPr>
          <a:xfrm>
            <a:off x="640080" y="4443984"/>
            <a:ext cx="10881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F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/>
          <p:cNvSpPr/>
          <p:nvPr/>
        </p:nvSpPr>
        <p:spPr>
          <a:xfrm>
            <a:off x="841248" y="4443984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F37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NGHẼN</a:t>
            </a:r>
            <a:endParaRPr lang="en-US" sz="900" dirty="0"/>
          </a:p>
        </p:txBody>
      </p:sp>
      <p:pic>
        <p:nvPicPr>
          <p:cNvPr id="68" name="Image 6" descr="icons/keyboard_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8880" y="4681728"/>
            <a:ext cx="201168" cy="201168"/>
          </a:xfrm>
          <a:prstGeom prst="rect">
            <a:avLst/>
          </a:prstGeom>
        </p:spPr>
      </p:pic>
      <p:sp>
        <p:nvSpPr>
          <p:cNvPr id="69" name="Text 60"/>
          <p:cNvSpPr/>
          <p:nvPr/>
        </p:nvSpPr>
        <p:spPr>
          <a:xfrm>
            <a:off x="2761488" y="4443984"/>
            <a:ext cx="2602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Đọc &amp; nhập liệu thủ công, dễ sai sót</a:t>
            </a:r>
            <a:endParaRPr lang="en-US" sz="950" dirty="0"/>
          </a:p>
        </p:txBody>
      </p:sp>
      <p:pic>
        <p:nvPicPr>
          <p:cNvPr id="70" name="Image 7" descr="icons/random_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55920" y="4681728"/>
            <a:ext cx="201168" cy="201168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5748528" y="4443984"/>
            <a:ext cx="2602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phân mảnh, tốn công tổng hợp</a:t>
            </a:r>
            <a:endParaRPr lang="en-US" sz="950" dirty="0"/>
          </a:p>
        </p:txBody>
      </p:sp>
      <p:pic>
        <p:nvPicPr>
          <p:cNvPr id="72" name="Image 8" descr="icons/clock_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2960" y="4681728"/>
            <a:ext cx="201168" cy="201168"/>
          </a:xfrm>
          <a:prstGeom prst="rect">
            <a:avLst/>
          </a:prstGeom>
        </p:spPr>
      </p:pic>
      <p:sp>
        <p:nvSpPr>
          <p:cNvPr id="73" name="Text 62"/>
          <p:cNvSpPr/>
          <p:nvPr/>
        </p:nvSpPr>
        <p:spPr>
          <a:xfrm>
            <a:off x="8735568" y="4443984"/>
            <a:ext cx="2602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sánh, đánh giá &amp; rà soát lặp lại</a:t>
            </a:r>
            <a:endParaRPr lang="en-US" sz="950" dirty="0"/>
          </a:p>
        </p:txBody>
      </p:sp>
      <p:sp>
        <p:nvSpPr>
          <p:cNvPr id="74" name="Shape 63"/>
          <p:cNvSpPr/>
          <p:nvPr/>
        </p:nvSpPr>
        <p:spPr>
          <a:xfrm>
            <a:off x="640080" y="532180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64"/>
          <p:cNvSpPr/>
          <p:nvPr/>
        </p:nvSpPr>
        <p:spPr>
          <a:xfrm>
            <a:off x="841248" y="5440680"/>
            <a:ext cx="329184" cy="329184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6" name="Image 9" descr="icons/warn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5513832"/>
            <a:ext cx="182880" cy="182880"/>
          </a:xfrm>
          <a:prstGeom prst="rect">
            <a:avLst/>
          </a:prstGeom>
        </p:spPr>
      </p:pic>
      <p:sp>
        <p:nvSpPr>
          <p:cNvPr id="77" name="Text 65"/>
          <p:cNvSpPr/>
          <p:nvPr/>
        </p:nvSpPr>
        <p:spPr>
          <a:xfrm>
            <a:off x="1325880" y="532180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4/6 bước có thao tác thủ công lặp lại</a:t>
            </a:r>
            <a:r>
              <a:rPr lang="en-US" sz="1100" dirty="0">
                <a:solidFill>
                  <a:srgbClr val="FB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tập trung ở khâu đọc/nhập liệu, tổng hợp dữ liệu và rà soát</a:t>
            </a:r>
            <a:endParaRPr lang="en-US" sz="1100" dirty="0"/>
          </a:p>
        </p:txBody>
      </p:sp>
      <p:sp>
        <p:nvSpPr>
          <p:cNvPr id="78" name="Shape 66"/>
          <p:cNvSpPr/>
          <p:nvPr/>
        </p:nvSpPr>
        <p:spPr>
          <a:xfrm>
            <a:off x="640080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9" name="Text 67"/>
          <p:cNvSpPr/>
          <p:nvPr/>
        </p:nvSpPr>
        <p:spPr>
          <a:xfrm>
            <a:off x="640080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</a:t>
            </a:r>
            <a:r>
              <a:rPr lang="en-US" sz="9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Bài</a:t>
            </a: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toán</a:t>
            </a:r>
            <a:endParaRPr lang="en-US" sz="900" dirty="0"/>
          </a:p>
        </p:txBody>
      </p:sp>
      <p:sp>
        <p:nvSpPr>
          <p:cNvPr id="80" name="Shape 68"/>
          <p:cNvSpPr/>
          <p:nvPr/>
        </p:nvSpPr>
        <p:spPr>
          <a:xfrm>
            <a:off x="2838298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69"/>
          <p:cNvSpPr/>
          <p:nvPr/>
        </p:nvSpPr>
        <p:spPr>
          <a:xfrm>
            <a:off x="2838298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pháp</a:t>
            </a:r>
            <a:endParaRPr lang="en-US" sz="900" dirty="0"/>
          </a:p>
        </p:txBody>
      </p:sp>
      <p:sp>
        <p:nvSpPr>
          <p:cNvPr id="82" name="Shape 70"/>
          <p:cNvSpPr/>
          <p:nvPr/>
        </p:nvSpPr>
        <p:spPr>
          <a:xfrm>
            <a:off x="5036515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3" name="Text 71"/>
          <p:cNvSpPr/>
          <p:nvPr/>
        </p:nvSpPr>
        <p:spPr>
          <a:xfrm>
            <a:off x="5036515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trị</a:t>
            </a:r>
            <a:endParaRPr lang="en-US" sz="900" dirty="0"/>
          </a:p>
        </p:txBody>
      </p:sp>
      <p:sp>
        <p:nvSpPr>
          <p:cNvPr id="84" name="Shape 72"/>
          <p:cNvSpPr/>
          <p:nvPr/>
        </p:nvSpPr>
        <p:spPr>
          <a:xfrm>
            <a:off x="7234733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5" name="Text 73"/>
          <p:cNvSpPr/>
          <p:nvPr/>
        </p:nvSpPr>
        <p:spPr>
          <a:xfrm>
            <a:off x="7234733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Lộ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trình</a:t>
            </a:r>
            <a:endParaRPr lang="en-US" sz="900" dirty="0"/>
          </a:p>
        </p:txBody>
      </p:sp>
      <p:sp>
        <p:nvSpPr>
          <p:cNvPr id="86" name="Shape 74"/>
          <p:cNvSpPr/>
          <p:nvPr/>
        </p:nvSpPr>
        <p:spPr>
          <a:xfrm>
            <a:off x="9432950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75"/>
          <p:cNvSpPr/>
          <p:nvPr/>
        </p:nvSpPr>
        <p:spPr>
          <a:xfrm>
            <a:off x="9432950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hình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kinh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doanh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914400"/>
            <a:ext cx="1920240" cy="1920240"/>
          </a:xfrm>
          <a:prstGeom prst="ellipse">
            <a:avLst/>
          </a:prstGeom>
          <a:solidFill>
            <a:srgbClr val="FEF1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365760"/>
            <a:ext cx="2291486" cy="310896"/>
          </a:xfrm>
          <a:prstGeom prst="roundRect">
            <a:avLst>
              <a:gd name="adj" fmla="val 50000"/>
            </a:avLst>
          </a:prstGeom>
          <a:solidFill>
            <a:srgbClr val="FEF1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2291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37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1 · BÀI TOÁN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78638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BÓC TÁCH TỪNG BƯỚC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</a:t>
            </a:r>
            <a:r>
              <a:rPr lang="en-US" sz="2100" b="1" dirty="0" err="1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trình</a:t>
            </a:r>
            <a:r>
              <a:rPr lang="en-US" sz="2100" b="1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100" b="1" dirty="0" err="1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hiện</a:t>
            </a:r>
            <a:r>
              <a:rPr lang="en-US" sz="2100" b="1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100" b="1" dirty="0" err="1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tại</a:t>
            </a:r>
            <a:r>
              <a:rPr lang="en-US" sz="2100" b="1" dirty="0">
                <a:solidFill>
                  <a:srgbClr val="1D20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2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233645"/>
              </p:ext>
            </p:extLst>
          </p:nvPr>
        </p:nvGraphicFramePr>
        <p:xfrm>
          <a:off x="640080" y="1591056"/>
          <a:ext cx="10881360" cy="3382801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D2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2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2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2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 Tiếp nhận hồ sơ
</a:t>
                      </a:r>
                      <a:r>
                        <a:rPr lang="en-US" sz="750" i="1" dirty="0">
                          <a:solidFill>
                            <a:srgbClr val="FBD9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D2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 Đề xuất phương án
</a:t>
                      </a:r>
                      <a:r>
                        <a:rPr lang="en-US" sz="750" i="1" dirty="0">
                          <a:solidFill>
                            <a:srgbClr val="FBD9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 Thẩm định
</a:t>
                      </a:r>
                      <a:r>
                        <a:rPr lang="en-US" sz="750" i="1" dirty="0">
                          <a:solidFill>
                            <a:srgbClr val="FBD9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Bộ phận thẩm định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 Phê duyệt
</a:t>
                      </a:r>
                      <a:r>
                        <a:rPr lang="en-US" sz="750" i="1" dirty="0">
                          <a:solidFill>
                            <a:srgbClr val="FBD9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Người có thẩm quyền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 Giải ngân
</a:t>
                      </a:r>
                      <a:r>
                        <a:rPr lang="en-US" sz="750" i="1" dirty="0">
                          <a:solidFill>
                            <a:srgbClr val="FBD9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CV hỗ trợ tín dụng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 Kiểm tra sử dụng vốn
</a:t>
                      </a:r>
                      <a:r>
                        <a:rPr lang="en-US" sz="750" i="1" dirty="0">
                          <a:solidFill>
                            <a:srgbClr val="FBD9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CV hỗ trợ tín dụng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20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HOẠT ĐỘNG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2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Nhận </a:t>
                      </a:r>
                      <a:r>
                        <a:rPr lang="en-US" sz="900" dirty="0" err="1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hồ</a:t>
                      </a: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sơ</a:t>
                      </a:r>
                      <a:endParaRPr lang="en-US" sz="900" dirty="0">
                        <a:solidFill>
                          <a:srgbClr val="1D2045"/>
                        </a:solidFill>
                        <a:latin typeface="Segoe UI" pitchFamily="34" charset="0"/>
                        <a:ea typeface="Segoe UI" pitchFamily="34" charset="-122"/>
                        <a:cs typeface="Segoe UI" pitchFamily="34" charset="-12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Đọc &amp; trích xuất thủ công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Nhập vào template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Lấy dữ liệu CIC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Tính DTI trên Excel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Đánh giá khách hàng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Đề xuất giá trị, lãi suất, kỳ hạn, </a:t>
                      </a:r>
                      <a:r>
                        <a:rPr lang="en-US" sz="900" dirty="0" err="1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</a:t>
                      </a: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lần</a:t>
                      </a: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giải</a:t>
                      </a: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ngân</a:t>
                      </a: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r>
                        <a:rPr lang="en-US" sz="900" dirty="0" err="1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kỳ</a:t>
                      </a: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hạn</a:t>
                      </a:r>
                      <a:endParaRPr lang="en-US" sz="900" dirty="0">
                        <a:solidFill>
                          <a:srgbClr val="1D2045"/>
                        </a:solidFill>
                        <a:latin typeface="Segoe UI" pitchFamily="34" charset="0"/>
                        <a:ea typeface="Segoe UI" pitchFamily="34" charset="-122"/>
                        <a:cs typeface="Segoe UI" pitchFamily="34" charset="-12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Thẩm định phương án, pháp lý và khả năng trả nợ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Pass → chuyển phê duyệt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Rà soát đề xuất và hồ sơ KH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Approve / Reject / Bổ sung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Ký hợp đồng tín dụng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Check CIC (case nộp 3–6 tháng)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Thực hiện giải ngân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Sau ~3 tháng kiểm tra mục đích dùng vốn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Dựa trên bản kê khai + hóa đơn, </a:t>
                      </a:r>
                      <a:r>
                        <a:rPr lang="en-US" sz="900" dirty="0" err="1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chứng</a:t>
                      </a:r>
                      <a:r>
                        <a:rPr lang="en-US" sz="90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từ</a:t>
                      </a:r>
                      <a:endParaRPr lang="en-US" sz="900" dirty="0">
                        <a:solidFill>
                          <a:srgbClr val="1D2045"/>
                        </a:solidFill>
                        <a:latin typeface="Segoe UI" pitchFamily="34" charset="0"/>
                        <a:ea typeface="Segoe UI" pitchFamily="34" charset="-122"/>
                        <a:cs typeface="Segoe UI" pitchFamily="34" charset="-12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endParaRPr lang="en-US" sz="900" dirty="0">
                        <a:solidFill>
                          <a:srgbClr val="1D2045"/>
                        </a:solidFill>
                        <a:latin typeface="Segoe UI" pitchFamily="34" charset="0"/>
                        <a:ea typeface="Segoe UI" charset="0"/>
                        <a:cs typeface="Segoe UI" pitchFamily="34" charset="-12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44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3702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ĐIỂM NGHẼN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</a:t>
                      </a:r>
                      <a:r>
                        <a:rPr lang="en-US" sz="1050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Tốn</a:t>
                      </a:r>
                      <a:r>
                        <a:rPr lang="en-US" sz="1050" b="1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thời gian </a:t>
                      </a:r>
                      <a:r>
                        <a:rPr lang="en-US" sz="1050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đọc và nhập liệu </a:t>
                      </a:r>
                      <a:r>
                        <a:rPr lang="en-US" sz="1050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thủ</a:t>
                      </a:r>
                      <a:r>
                        <a:rPr lang="en-US" sz="1050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công</a:t>
                      </a:r>
                      <a:endParaRPr lang="en-US" sz="1050" dirty="0">
                        <a:solidFill>
                          <a:srgbClr val="B4531A"/>
                        </a:solidFill>
                        <a:latin typeface="Segoe UI" pitchFamily="34" charset="0"/>
                        <a:ea typeface="Segoe UI" pitchFamily="34" charset="-122"/>
                        <a:cs typeface="Segoe UI" pitchFamily="34" charset="-12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</a:t>
                      </a:r>
                      <a:r>
                        <a:rPr lang="en-US" sz="1050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Rủi</a:t>
                      </a:r>
                      <a:r>
                        <a:rPr lang="en-US" sz="1050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ro </a:t>
                      </a:r>
                      <a:r>
                        <a:rPr lang="en-US" sz="1050" b="1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sai sót</a:t>
                      </a:r>
                      <a:endParaRPr lang="en-US" sz="105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</a:t>
                      </a:r>
                      <a:r>
                        <a:rPr lang="en-US" sz="1050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Dữ</a:t>
                      </a:r>
                      <a:r>
                        <a:rPr lang="en-US" sz="1050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liệu </a:t>
                      </a:r>
                      <a:r>
                        <a:rPr lang="en-US" sz="1050" b="1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phân</a:t>
                      </a:r>
                      <a:r>
                        <a:rPr lang="en-US" sz="1050" b="1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mảnh</a:t>
                      </a:r>
                      <a:endParaRPr lang="en-US" sz="1050" b="1" dirty="0">
                        <a:solidFill>
                          <a:srgbClr val="B4531A"/>
                        </a:solidFill>
                        <a:latin typeface="Segoe UI" pitchFamily="34" charset="0"/>
                        <a:ea typeface="Segoe UI" pitchFamily="34" charset="-122"/>
                        <a:cs typeface="Segoe UI" pitchFamily="34" charset="-12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</a:t>
                      </a:r>
                      <a:r>
                        <a:rPr lang="en-US" sz="1050" b="1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Tốn</a:t>
                      </a:r>
                      <a:r>
                        <a:rPr lang="en-US" sz="1050" b="1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công </a:t>
                      </a:r>
                      <a:r>
                        <a:rPr lang="en-US" sz="1050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 hợp, so sánh, đánh giá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</a:t>
                      </a:r>
                      <a:r>
                        <a:rPr lang="en-US" sz="1050" b="1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Tốn</a:t>
                      </a:r>
                      <a:r>
                        <a:rPr lang="en-US" sz="1050" b="1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thời gian </a:t>
                      </a:r>
                      <a:r>
                        <a:rPr lang="en-US" sz="1050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 sánh và đánh giá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</a:t>
                      </a:r>
                      <a:r>
                        <a:rPr lang="en-US" sz="1050" b="1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Tốn</a:t>
                      </a:r>
                      <a:r>
                        <a:rPr lang="en-US" sz="1050" b="1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thời</a:t>
                      </a:r>
                      <a:r>
                        <a:rPr lang="en-US" sz="1050" b="1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gian</a:t>
                      </a:r>
                      <a:r>
                        <a:rPr lang="en-US" sz="1050" b="1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050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 </a:t>
                      </a:r>
                      <a:r>
                        <a:rPr lang="en-US" sz="1050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sánh</a:t>
                      </a:r>
                      <a:r>
                        <a:rPr lang="en-US" sz="1050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và</a:t>
                      </a:r>
                      <a:r>
                        <a:rPr lang="en-US" sz="1050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đánh</a:t>
                      </a:r>
                      <a:r>
                        <a:rPr lang="en-US" sz="1050" dirty="0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B453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giá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51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D20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TOUCHPOINT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i="1" dirty="0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Bộ hồ sơ; hệ thống nội bộ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i="1" dirty="0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Hệ thống nội bộ; file Excel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i="1" dirty="0" err="1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Hệ</a:t>
                      </a:r>
                      <a:r>
                        <a:rPr lang="en-US" sz="900" i="1" dirty="0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900" i="1" dirty="0" err="1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thống</a:t>
                      </a:r>
                      <a:r>
                        <a:rPr lang="en-US" sz="900" i="1" dirty="0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900" i="1" dirty="0" err="1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nội</a:t>
                      </a:r>
                      <a:r>
                        <a:rPr lang="en-US" sz="900" i="1" dirty="0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900" i="1" dirty="0" err="1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bộ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i="1" dirty="0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Hệ </a:t>
                      </a:r>
                      <a:r>
                        <a:rPr lang="en-US" sz="900" i="1" dirty="0" err="1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thống</a:t>
                      </a:r>
                      <a:r>
                        <a:rPr lang="en-US" sz="900" i="1" dirty="0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900" i="1" dirty="0" err="1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nội</a:t>
                      </a:r>
                      <a:r>
                        <a:rPr lang="en-US" sz="900" i="1" dirty="0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900" i="1" dirty="0" err="1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bộ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00" i="1" dirty="0">
                          <a:solidFill>
                            <a:srgbClr val="8A829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Bản kê khai mục đích; hóa đơn, chứng từ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138928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41248" y="5257800"/>
            <a:ext cx="329184" cy="329184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icons/war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30952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5138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nghẽn tập trung ở bước 1–4</a:t>
            </a:r>
            <a:r>
              <a:rPr lang="en-US" sz="1100" dirty="0">
                <a:solidFill>
                  <a:srgbClr val="FB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đọc/nhập liệu thủ công, tổng hợp dữ liệu và rà soát lặp lại</a:t>
            </a:r>
            <a:endParaRPr lang="en-US" sz="1100" dirty="0"/>
          </a:p>
        </p:txBody>
      </p:sp>
      <p:sp>
        <p:nvSpPr>
          <p:cNvPr id="43" name="Shape 66">
            <a:extLst>
              <a:ext uri="{FF2B5EF4-FFF2-40B4-BE49-F238E27FC236}">
                <a16:creationId xmlns:a16="http://schemas.microsoft.com/office/drawing/2014/main" id="{6B33D2DD-552E-A4E6-A982-7DE318E730F6}"/>
              </a:ext>
            </a:extLst>
          </p:cNvPr>
          <p:cNvSpPr/>
          <p:nvPr/>
        </p:nvSpPr>
        <p:spPr>
          <a:xfrm>
            <a:off x="640080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5" name="Text 67">
            <a:extLst>
              <a:ext uri="{FF2B5EF4-FFF2-40B4-BE49-F238E27FC236}">
                <a16:creationId xmlns:a16="http://schemas.microsoft.com/office/drawing/2014/main" id="{97CCBD27-DBDE-D4CF-11B5-04DBFB3E9CFE}"/>
              </a:ext>
            </a:extLst>
          </p:cNvPr>
          <p:cNvSpPr/>
          <p:nvPr/>
        </p:nvSpPr>
        <p:spPr>
          <a:xfrm>
            <a:off x="640080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</a:t>
            </a:r>
            <a:r>
              <a:rPr lang="en-US" sz="9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Bài</a:t>
            </a: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toán</a:t>
            </a:r>
            <a:endParaRPr lang="en-US" sz="900" dirty="0"/>
          </a:p>
        </p:txBody>
      </p:sp>
      <p:sp>
        <p:nvSpPr>
          <p:cNvPr id="47" name="Shape 68">
            <a:extLst>
              <a:ext uri="{FF2B5EF4-FFF2-40B4-BE49-F238E27FC236}">
                <a16:creationId xmlns:a16="http://schemas.microsoft.com/office/drawing/2014/main" id="{6A86CBE8-9881-A9C6-1EDD-C8E609AD4C1B}"/>
              </a:ext>
            </a:extLst>
          </p:cNvPr>
          <p:cNvSpPr/>
          <p:nvPr/>
        </p:nvSpPr>
        <p:spPr>
          <a:xfrm>
            <a:off x="2838298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69">
            <a:extLst>
              <a:ext uri="{FF2B5EF4-FFF2-40B4-BE49-F238E27FC236}">
                <a16:creationId xmlns:a16="http://schemas.microsoft.com/office/drawing/2014/main" id="{C4A62250-F3D9-0514-D31F-76F5EFB89B90}"/>
              </a:ext>
            </a:extLst>
          </p:cNvPr>
          <p:cNvSpPr/>
          <p:nvPr/>
        </p:nvSpPr>
        <p:spPr>
          <a:xfrm>
            <a:off x="2838298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pháp</a:t>
            </a:r>
            <a:endParaRPr lang="en-US" sz="900" dirty="0"/>
          </a:p>
        </p:txBody>
      </p:sp>
      <p:sp>
        <p:nvSpPr>
          <p:cNvPr id="51" name="Shape 70">
            <a:extLst>
              <a:ext uri="{FF2B5EF4-FFF2-40B4-BE49-F238E27FC236}">
                <a16:creationId xmlns:a16="http://schemas.microsoft.com/office/drawing/2014/main" id="{A87952B9-8FEB-D60D-B5F1-77A25CCB2419}"/>
              </a:ext>
            </a:extLst>
          </p:cNvPr>
          <p:cNvSpPr/>
          <p:nvPr/>
        </p:nvSpPr>
        <p:spPr>
          <a:xfrm>
            <a:off x="5036515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3" name="Text 71">
            <a:extLst>
              <a:ext uri="{FF2B5EF4-FFF2-40B4-BE49-F238E27FC236}">
                <a16:creationId xmlns:a16="http://schemas.microsoft.com/office/drawing/2014/main" id="{75EDC56A-0650-8D72-8D64-584D1E745477}"/>
              </a:ext>
            </a:extLst>
          </p:cNvPr>
          <p:cNvSpPr/>
          <p:nvPr/>
        </p:nvSpPr>
        <p:spPr>
          <a:xfrm>
            <a:off x="5036515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trị</a:t>
            </a:r>
            <a:endParaRPr lang="en-US" sz="900" dirty="0"/>
          </a:p>
        </p:txBody>
      </p:sp>
      <p:sp>
        <p:nvSpPr>
          <p:cNvPr id="55" name="Shape 72">
            <a:extLst>
              <a:ext uri="{FF2B5EF4-FFF2-40B4-BE49-F238E27FC236}">
                <a16:creationId xmlns:a16="http://schemas.microsoft.com/office/drawing/2014/main" id="{2D13B5D7-7DAC-C2C1-31BB-E096A7F45AC3}"/>
              </a:ext>
            </a:extLst>
          </p:cNvPr>
          <p:cNvSpPr/>
          <p:nvPr/>
        </p:nvSpPr>
        <p:spPr>
          <a:xfrm>
            <a:off x="7234733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7" name="Text 73">
            <a:extLst>
              <a:ext uri="{FF2B5EF4-FFF2-40B4-BE49-F238E27FC236}">
                <a16:creationId xmlns:a16="http://schemas.microsoft.com/office/drawing/2014/main" id="{1A9A416F-3B90-56C4-7F81-0D0CDE338993}"/>
              </a:ext>
            </a:extLst>
          </p:cNvPr>
          <p:cNvSpPr/>
          <p:nvPr/>
        </p:nvSpPr>
        <p:spPr>
          <a:xfrm>
            <a:off x="7234733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Lộ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trình</a:t>
            </a:r>
            <a:endParaRPr lang="en-US" sz="900" dirty="0"/>
          </a:p>
        </p:txBody>
      </p:sp>
      <p:sp>
        <p:nvSpPr>
          <p:cNvPr id="59" name="Shape 74">
            <a:extLst>
              <a:ext uri="{FF2B5EF4-FFF2-40B4-BE49-F238E27FC236}">
                <a16:creationId xmlns:a16="http://schemas.microsoft.com/office/drawing/2014/main" id="{7F615C41-E236-4BCD-D01A-B2ABB87C24A0}"/>
              </a:ext>
            </a:extLst>
          </p:cNvPr>
          <p:cNvSpPr/>
          <p:nvPr/>
        </p:nvSpPr>
        <p:spPr>
          <a:xfrm>
            <a:off x="9432950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75">
            <a:extLst>
              <a:ext uri="{FF2B5EF4-FFF2-40B4-BE49-F238E27FC236}">
                <a16:creationId xmlns:a16="http://schemas.microsoft.com/office/drawing/2014/main" id="{6C7B1DAA-E0F7-9448-9B36-A276D3E9433F}"/>
              </a:ext>
            </a:extLst>
          </p:cNvPr>
          <p:cNvSpPr/>
          <p:nvPr/>
        </p:nvSpPr>
        <p:spPr>
          <a:xfrm>
            <a:off x="9432950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hình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kinh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doanh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F2CEB6EC-4773-75FB-FCEA-FB9FC3D527CF}"/>
              </a:ext>
            </a:extLst>
          </p:cNvPr>
          <p:cNvSpPr/>
          <p:nvPr/>
        </p:nvSpPr>
        <p:spPr>
          <a:xfrm>
            <a:off x="640080" y="329184"/>
            <a:ext cx="1506931" cy="292608"/>
          </a:xfrm>
          <a:prstGeom prst="roundRect">
            <a:avLst>
              <a:gd name="adj" fmla="val 43750"/>
            </a:avLst>
          </a:prstGeom>
          <a:solidFill>
            <a:srgbClr val="1D2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C53C9F27-0524-81BD-74D2-413CF6308CAF}"/>
              </a:ext>
            </a:extLst>
          </p:cNvPr>
          <p:cNvSpPr/>
          <p:nvPr/>
        </p:nvSpPr>
        <p:spPr>
          <a:xfrm>
            <a:off x="640080" y="3291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2 · GIẢI PHÁP</a:t>
            </a:r>
            <a:endParaRPr lang="en-US" sz="85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A37985F3-7F55-DA9C-0804-F02AFF57A5B5}"/>
              </a:ext>
            </a:extLst>
          </p:cNvPr>
          <p:cNvSpPr/>
          <p:nvPr/>
        </p:nvSpPr>
        <p:spPr>
          <a:xfrm>
            <a:off x="640080" y="69494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HỆ THỐNG MULTI-AGENT HỖ TRỢ RA QUYẾT ĐỊNH TÍN DỤNG</a:t>
            </a:r>
            <a:endParaRPr lang="en-US" sz="1000" dirty="0">
              <a:solidFill>
                <a:srgbClr val="A88874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A820E15-56A2-73AE-4198-EDF333A4D5C0}"/>
              </a:ext>
            </a:extLst>
          </p:cNvPr>
          <p:cNvSpPr/>
          <p:nvPr/>
        </p:nvSpPr>
        <p:spPr>
          <a:xfrm>
            <a:off x="640080" y="93268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900" b="1" dirty="0">
              <a:solidFill>
                <a:srgbClr val="1B1E3D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5B2B576D-EA58-4700-727C-F339D68D800E}"/>
              </a:ext>
            </a:extLst>
          </p:cNvPr>
          <p:cNvSpPr/>
          <p:nvPr/>
        </p:nvSpPr>
        <p:spPr>
          <a:xfrm>
            <a:off x="640080" y="1371600"/>
            <a:ext cx="10881360" cy="13716"/>
          </a:xfrm>
          <a:prstGeom prst="rect">
            <a:avLst/>
          </a:prstGeom>
          <a:solidFill>
            <a:srgbClr val="FD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7A8C2515-6355-6B25-4530-43882AF75571}"/>
              </a:ext>
            </a:extLst>
          </p:cNvPr>
          <p:cNvSpPr/>
          <p:nvPr/>
        </p:nvSpPr>
        <p:spPr>
          <a:xfrm>
            <a:off x="640080" y="1481328"/>
            <a:ext cx="2084832" cy="2267712"/>
          </a:xfrm>
          <a:prstGeom prst="roundRect">
            <a:avLst>
              <a:gd name="adj" fmla="val 3509"/>
            </a:avLst>
          </a:prstGeom>
          <a:solidFill>
            <a:srgbClr val="FEF9F6"/>
          </a:solidFill>
          <a:ln w="12700">
            <a:solidFill>
              <a:srgbClr val="FDF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21857D9D-F421-DE61-9709-725161A3F85E}"/>
              </a:ext>
            </a:extLst>
          </p:cNvPr>
          <p:cNvSpPr/>
          <p:nvPr/>
        </p:nvSpPr>
        <p:spPr>
          <a:xfrm>
            <a:off x="731520" y="1591056"/>
            <a:ext cx="512064" cy="512064"/>
          </a:xfrm>
          <a:prstGeom prst="ellipse">
            <a:avLst/>
          </a:prstGeom>
          <a:solidFill>
            <a:srgbClr val="1D20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A5E24A88-F25F-6437-275A-24948682F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35" y="1712671"/>
            <a:ext cx="268834" cy="268834"/>
          </a:xfrm>
          <a:prstGeom prst="rect">
            <a:avLst/>
          </a:prstGeom>
        </p:spPr>
      </p:pic>
      <p:sp>
        <p:nvSpPr>
          <p:cNvPr id="20" name="Text 18">
            <a:extLst>
              <a:ext uri="{FF2B5EF4-FFF2-40B4-BE49-F238E27FC236}">
                <a16:creationId xmlns:a16="http://schemas.microsoft.com/office/drawing/2014/main" id="{1E2B84F5-4F8E-E053-CDDC-19A107C684A0}"/>
              </a:ext>
            </a:extLst>
          </p:cNvPr>
          <p:cNvSpPr/>
          <p:nvPr/>
        </p:nvSpPr>
        <p:spPr>
          <a:xfrm>
            <a:off x="1353312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Planner</a:t>
            </a:r>
            <a:endParaRPr lang="en-US" sz="115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E6BDB6EB-D9C7-4733-ED85-0949A314137E}"/>
              </a:ext>
            </a:extLst>
          </p:cNvPr>
          <p:cNvSpPr/>
          <p:nvPr/>
        </p:nvSpPr>
        <p:spPr>
          <a:xfrm>
            <a:off x="713232" y="213969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Điều</a:t>
            </a:r>
            <a:r>
              <a:rPr lang="en-US" sz="850" i="1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850" i="1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phối</a:t>
            </a:r>
            <a:endParaRPr lang="en-US" sz="850" dirty="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74BB7CA6-C9C0-F8DA-F21F-52BC8EAECC09}"/>
              </a:ext>
            </a:extLst>
          </p:cNvPr>
          <p:cNvSpPr/>
          <p:nvPr/>
        </p:nvSpPr>
        <p:spPr>
          <a:xfrm>
            <a:off x="713232" y="2359152"/>
            <a:ext cx="19385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Đọc config → dựng DAG → phân công → replan khi veto/fail</a:t>
            </a:r>
          </a:p>
          <a:p>
            <a:pPr marL="0" indent="0">
              <a:lnSpc>
                <a:spcPct val="130000"/>
              </a:lnSpc>
              <a:buNone/>
            </a:pPr>
            <a:endParaRPr lang="en-US" sz="900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B8341A61-FA8D-731D-5C6D-08132FD54EBA}"/>
              </a:ext>
            </a:extLst>
          </p:cNvPr>
          <p:cNvSpPr/>
          <p:nvPr/>
        </p:nvSpPr>
        <p:spPr>
          <a:xfrm>
            <a:off x="2839212" y="1481328"/>
            <a:ext cx="2084832" cy="2267712"/>
          </a:xfrm>
          <a:prstGeom prst="roundRect">
            <a:avLst>
              <a:gd name="adj" fmla="val 3509"/>
            </a:avLst>
          </a:prstGeom>
          <a:solidFill>
            <a:srgbClr val="FEF9F6"/>
          </a:solidFill>
          <a:ln w="12700">
            <a:solidFill>
              <a:srgbClr val="FDF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18186E9D-9E98-4665-8C08-ABB7ED95A1CA}"/>
              </a:ext>
            </a:extLst>
          </p:cNvPr>
          <p:cNvSpPr/>
          <p:nvPr/>
        </p:nvSpPr>
        <p:spPr>
          <a:xfrm>
            <a:off x="2930652" y="1591056"/>
            <a:ext cx="512064" cy="512064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0840960C-46C4-DB89-7445-313E989BD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267" y="1712671"/>
            <a:ext cx="268834" cy="268834"/>
          </a:xfrm>
          <a:prstGeom prst="rect">
            <a:avLst/>
          </a:prstGeom>
        </p:spPr>
      </p:pic>
      <p:sp>
        <p:nvSpPr>
          <p:cNvPr id="26" name="Text 25">
            <a:extLst>
              <a:ext uri="{FF2B5EF4-FFF2-40B4-BE49-F238E27FC236}">
                <a16:creationId xmlns:a16="http://schemas.microsoft.com/office/drawing/2014/main" id="{82B57CC1-FCD5-B4D2-95DC-37665272ED75}"/>
              </a:ext>
            </a:extLst>
          </p:cNvPr>
          <p:cNvSpPr/>
          <p:nvPr/>
        </p:nvSpPr>
        <p:spPr>
          <a:xfrm>
            <a:off x="3552444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Credit</a:t>
            </a:r>
            <a:endParaRPr lang="en-US" sz="1150" dirty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20A5E7A2-14C2-CD3D-2764-60804C62D958}"/>
              </a:ext>
            </a:extLst>
          </p:cNvPr>
          <p:cNvSpPr/>
          <p:nvPr/>
        </p:nvSpPr>
        <p:spPr>
          <a:xfrm>
            <a:off x="2912364" y="213969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</a:t>
            </a:r>
            <a:r>
              <a:rPr lang="en-US" sz="850" i="1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850" i="1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hợp</a:t>
            </a:r>
            <a:r>
              <a:rPr lang="en-US" sz="850" i="1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850" i="1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thông</a:t>
            </a:r>
            <a:r>
              <a:rPr lang="en-US" sz="850" i="1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tin, </a:t>
            </a:r>
            <a:r>
              <a:rPr lang="en-US" sz="850" i="1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tính</a:t>
            </a:r>
            <a:r>
              <a:rPr lang="en-US" sz="850" i="1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850" i="1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toán</a:t>
            </a:r>
            <a:r>
              <a:rPr lang="en-US" sz="850" i="1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850" i="1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đề</a:t>
            </a:r>
            <a:r>
              <a:rPr lang="en-US" sz="850" i="1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850" i="1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xuất</a:t>
            </a:r>
            <a:r>
              <a:rPr lang="en-US" sz="850" i="1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850" dirty="0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39F93F3D-E63E-0CBA-7ADC-57FE8D054DE5}"/>
              </a:ext>
            </a:extLst>
          </p:cNvPr>
          <p:cNvSpPr/>
          <p:nvPr/>
        </p:nvSpPr>
        <p:spPr>
          <a:xfrm>
            <a:off x="2912364" y="2359152"/>
            <a:ext cx="19385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</a:t>
            </a:r>
            <a:r>
              <a:rPr lang="en-US" sz="900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hợp</a:t>
            </a:r>
            <a:r>
              <a:rPr lang="en-US" sz="900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thông</a:t>
            </a:r>
            <a:r>
              <a:rPr lang="en-US" sz="900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tin </a:t>
            </a:r>
            <a:r>
              <a:rPr lang="en-US" sz="900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từ</a:t>
            </a:r>
            <a:r>
              <a:rPr lang="en-US" sz="900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hồ</a:t>
            </a:r>
            <a:r>
              <a:rPr lang="en-US" sz="900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sơ</a:t>
            </a:r>
            <a:r>
              <a:rPr lang="en-US" sz="900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CIC · tính DTI =&gt; </a:t>
            </a:r>
            <a:r>
              <a:rPr lang="en-US" sz="900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Đề</a:t>
            </a:r>
            <a:r>
              <a:rPr lang="en-US" sz="900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 hạn mức &amp; lãi suất</a:t>
            </a:r>
            <a:endParaRPr lang="en-US" sz="9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3120731-7843-AE30-1964-A9BE5F745E8F}"/>
              </a:ext>
            </a:extLst>
          </p:cNvPr>
          <p:cNvGrpSpPr/>
          <p:nvPr/>
        </p:nvGrpSpPr>
        <p:grpSpPr>
          <a:xfrm>
            <a:off x="7237476" y="1481328"/>
            <a:ext cx="2084832" cy="2267712"/>
            <a:chOff x="5065090" y="356616"/>
            <a:chExt cx="2084832" cy="2267712"/>
          </a:xfrm>
        </p:grpSpPr>
        <p:sp>
          <p:nvSpPr>
            <p:cNvPr id="30" name="Shape 30">
              <a:extLst>
                <a:ext uri="{FF2B5EF4-FFF2-40B4-BE49-F238E27FC236}">
                  <a16:creationId xmlns:a16="http://schemas.microsoft.com/office/drawing/2014/main" id="{67341F14-0036-A060-5BC7-A16CAE235678}"/>
                </a:ext>
              </a:extLst>
            </p:cNvPr>
            <p:cNvSpPr/>
            <p:nvPr/>
          </p:nvSpPr>
          <p:spPr>
            <a:xfrm>
              <a:off x="5065090" y="356616"/>
              <a:ext cx="2084832" cy="2267712"/>
            </a:xfrm>
            <a:prstGeom prst="roundRect">
              <a:avLst>
                <a:gd name="adj" fmla="val 3509"/>
              </a:avLst>
            </a:prstGeom>
            <a:solidFill>
              <a:srgbClr val="FEF9F6"/>
            </a:solidFill>
            <a:ln w="12700">
              <a:solidFill>
                <a:srgbClr val="FDF0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31">
              <a:extLst>
                <a:ext uri="{FF2B5EF4-FFF2-40B4-BE49-F238E27FC236}">
                  <a16:creationId xmlns:a16="http://schemas.microsoft.com/office/drawing/2014/main" id="{DF753D46-ED7C-C35D-C59A-906248A02DA0}"/>
                </a:ext>
              </a:extLst>
            </p:cNvPr>
            <p:cNvSpPr/>
            <p:nvPr/>
          </p:nvSpPr>
          <p:spPr>
            <a:xfrm>
              <a:off x="5156530" y="466344"/>
              <a:ext cx="512064" cy="512064"/>
            </a:xfrm>
            <a:prstGeom prst="ellipse">
              <a:avLst/>
            </a:prstGeom>
            <a:solidFill>
              <a:srgbClr val="F37021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32" name="Image 2" descr="preencoded.png">
              <a:extLst>
                <a:ext uri="{FF2B5EF4-FFF2-40B4-BE49-F238E27FC236}">
                  <a16:creationId xmlns:a16="http://schemas.microsoft.com/office/drawing/2014/main" id="{7F953F5C-179F-098A-2A19-C070CAA56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78145" y="587959"/>
              <a:ext cx="268834" cy="268834"/>
            </a:xfrm>
            <a:prstGeom prst="rect">
              <a:avLst/>
            </a:prstGeom>
          </p:spPr>
        </p:pic>
        <p:sp>
          <p:nvSpPr>
            <p:cNvPr id="33" name="Text 32">
              <a:extLst>
                <a:ext uri="{FF2B5EF4-FFF2-40B4-BE49-F238E27FC236}">
                  <a16:creationId xmlns:a16="http://schemas.microsoft.com/office/drawing/2014/main" id="{5BE911D2-C8C9-F3D9-D7DB-FCC271504118}"/>
                </a:ext>
              </a:extLst>
            </p:cNvPr>
            <p:cNvSpPr/>
            <p:nvPr/>
          </p:nvSpPr>
          <p:spPr>
            <a:xfrm>
              <a:off x="5778322" y="448056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Compliance</a:t>
              </a:r>
              <a:endParaRPr lang="en-US" sz="1150" dirty="0"/>
            </a:p>
          </p:txBody>
        </p:sp>
        <p:sp>
          <p:nvSpPr>
            <p:cNvPr id="34" name="Text 35">
              <a:extLst>
                <a:ext uri="{FF2B5EF4-FFF2-40B4-BE49-F238E27FC236}">
                  <a16:creationId xmlns:a16="http://schemas.microsoft.com/office/drawing/2014/main" id="{BADD782B-355C-2E0A-5C38-5F6697D95B3C}"/>
                </a:ext>
              </a:extLst>
            </p:cNvPr>
            <p:cNvSpPr/>
            <p:nvPr/>
          </p:nvSpPr>
          <p:spPr>
            <a:xfrm>
              <a:off x="5138242" y="1014984"/>
              <a:ext cx="193852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i="1" dirty="0" err="1">
                  <a:solidFill>
                    <a:srgbClr val="A88874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Thẩm</a:t>
              </a:r>
              <a:r>
                <a:rPr lang="en-US" sz="850" i="1" dirty="0">
                  <a:solidFill>
                    <a:srgbClr val="A88874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</a:t>
              </a:r>
              <a:r>
                <a:rPr lang="en-US" sz="850" i="1" dirty="0" err="1">
                  <a:solidFill>
                    <a:srgbClr val="A88874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định</a:t>
              </a:r>
              <a:endParaRPr lang="en-US" sz="850" dirty="0"/>
            </a:p>
          </p:txBody>
        </p:sp>
        <p:sp>
          <p:nvSpPr>
            <p:cNvPr id="35" name="Text 36">
              <a:extLst>
                <a:ext uri="{FF2B5EF4-FFF2-40B4-BE49-F238E27FC236}">
                  <a16:creationId xmlns:a16="http://schemas.microsoft.com/office/drawing/2014/main" id="{40198AF4-D2B4-53C0-3B44-F4E5708F6BF9}"/>
                </a:ext>
              </a:extLst>
            </p:cNvPr>
            <p:cNvSpPr/>
            <p:nvPr/>
          </p:nvSpPr>
          <p:spPr>
            <a:xfrm>
              <a:off x="5138242" y="1234440"/>
              <a:ext cx="1938528" cy="1225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 err="1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Thẩm</a:t>
              </a:r>
              <a:r>
                <a:rPr lang="en-US" sz="900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</a:t>
              </a:r>
              <a:r>
                <a:rPr lang="en-US" sz="900" dirty="0" err="1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định</a:t>
              </a:r>
              <a:r>
                <a:rPr lang="en-US" sz="900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</a:t>
              </a:r>
              <a:r>
                <a:rPr lang="en-US" sz="900" dirty="0" err="1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phương</a:t>
              </a:r>
              <a:r>
                <a:rPr lang="en-US" sz="900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</a:t>
              </a:r>
              <a:r>
                <a:rPr lang="en-US" sz="900" dirty="0" err="1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án</a:t>
              </a:r>
              <a:r>
                <a:rPr lang="en-US" sz="900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, </a:t>
              </a:r>
              <a:r>
                <a:rPr lang="en-US" sz="900" dirty="0" err="1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pháp</a:t>
              </a:r>
              <a:r>
                <a:rPr lang="en-US" sz="900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</a:t>
              </a:r>
              <a:r>
                <a:rPr lang="en-US" sz="900" dirty="0" err="1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lý</a:t>
              </a:r>
              <a:r>
                <a:rPr lang="en-US" sz="900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, </a:t>
              </a:r>
              <a:r>
                <a:rPr lang="en-US" sz="900" dirty="0" err="1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khả</a:t>
              </a:r>
              <a:r>
                <a:rPr lang="en-US" sz="900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</a:t>
              </a:r>
              <a:r>
                <a:rPr lang="en-US" sz="900" dirty="0" err="1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năng</a:t>
              </a:r>
              <a:r>
                <a:rPr lang="en-US" sz="900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chi </a:t>
              </a:r>
              <a:r>
                <a:rPr lang="en-US" sz="900" dirty="0" err="1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trả</a:t>
              </a:r>
              <a:r>
                <a:rPr lang="en-US" sz="900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: KYC/UBO · sàng </a:t>
              </a:r>
              <a:r>
                <a:rPr lang="en-US" sz="900" dirty="0" err="1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lọc</a:t>
              </a:r>
              <a:r>
                <a:rPr lang="en-US" sz="900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AML =&gt; </a:t>
              </a:r>
              <a:r>
                <a:rPr lang="en-US" sz="900" dirty="0" err="1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Hợp</a:t>
              </a:r>
              <a:r>
                <a:rPr lang="en-US" sz="900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</a:t>
              </a:r>
              <a:r>
                <a:rPr lang="en-US" sz="900" dirty="0" err="1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đồng</a:t>
              </a:r>
              <a:r>
                <a:rPr lang="en-US" sz="900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</a:t>
              </a:r>
              <a:r>
                <a:rPr lang="en-US" sz="900" dirty="0" err="1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tín</a:t>
              </a:r>
              <a:r>
                <a:rPr lang="en-US" sz="900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</a:t>
              </a:r>
              <a:r>
                <a:rPr lang="en-US" sz="900" dirty="0" err="1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dụng</a:t>
              </a:r>
              <a:endParaRPr lang="en-US" sz="900" dirty="0"/>
            </a:p>
          </p:txBody>
        </p:sp>
        <p:sp>
          <p:nvSpPr>
            <p:cNvPr id="36" name="Text 38">
              <a:extLst>
                <a:ext uri="{FF2B5EF4-FFF2-40B4-BE49-F238E27FC236}">
                  <a16:creationId xmlns:a16="http://schemas.microsoft.com/office/drawing/2014/main" id="{ABA4CF58-F32B-8FD3-006B-FCD615463BD7}"/>
                </a:ext>
              </a:extLst>
            </p:cNvPr>
            <p:cNvSpPr/>
            <p:nvPr/>
          </p:nvSpPr>
          <p:spPr>
            <a:xfrm>
              <a:off x="6217234" y="429768"/>
              <a:ext cx="85953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✦ </a:t>
              </a:r>
              <a:r>
                <a:rPr lang="en-US" sz="750" b="1" dirty="0" err="1">
                  <a:solidFill>
                    <a:srgbClr val="FFFFFF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Pủ</a:t>
              </a:r>
              <a:r>
                <a:rPr lang="en-US" sz="750" b="1" dirty="0">
                  <a:solidFill>
                    <a:srgbClr val="FFFFFF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quyết</a:t>
              </a:r>
              <a:endParaRPr lang="en-US" sz="75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692A2A3-8015-CF2F-49A5-6F7AC9929756}"/>
              </a:ext>
            </a:extLst>
          </p:cNvPr>
          <p:cNvGrpSpPr/>
          <p:nvPr/>
        </p:nvGrpSpPr>
        <p:grpSpPr>
          <a:xfrm>
            <a:off x="5038344" y="1492412"/>
            <a:ext cx="2084832" cy="2267712"/>
            <a:chOff x="7290969" y="1554480"/>
            <a:chExt cx="2084832" cy="2267712"/>
          </a:xfrm>
        </p:grpSpPr>
        <p:sp>
          <p:nvSpPr>
            <p:cNvPr id="38" name="Shape 39">
              <a:extLst>
                <a:ext uri="{FF2B5EF4-FFF2-40B4-BE49-F238E27FC236}">
                  <a16:creationId xmlns:a16="http://schemas.microsoft.com/office/drawing/2014/main" id="{0730B856-291D-CCD5-4072-B27C44CF5D4A}"/>
                </a:ext>
              </a:extLst>
            </p:cNvPr>
            <p:cNvSpPr/>
            <p:nvPr/>
          </p:nvSpPr>
          <p:spPr>
            <a:xfrm>
              <a:off x="7290969" y="1554480"/>
              <a:ext cx="2084832" cy="2267712"/>
            </a:xfrm>
            <a:prstGeom prst="roundRect">
              <a:avLst>
                <a:gd name="adj" fmla="val 3509"/>
              </a:avLst>
            </a:prstGeom>
            <a:solidFill>
              <a:srgbClr val="FEF9F6"/>
            </a:solidFill>
            <a:ln w="12700">
              <a:solidFill>
                <a:srgbClr val="FDF0E8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Shape 40">
              <a:extLst>
                <a:ext uri="{FF2B5EF4-FFF2-40B4-BE49-F238E27FC236}">
                  <a16:creationId xmlns:a16="http://schemas.microsoft.com/office/drawing/2014/main" id="{BE6245DB-1930-EB0F-92B6-CB90B2789569}"/>
                </a:ext>
              </a:extLst>
            </p:cNvPr>
            <p:cNvSpPr/>
            <p:nvPr/>
          </p:nvSpPr>
          <p:spPr>
            <a:xfrm>
              <a:off x="7328916" y="1591056"/>
              <a:ext cx="512064" cy="512064"/>
            </a:xfrm>
            <a:prstGeom prst="ellipse">
              <a:avLst/>
            </a:prstGeom>
            <a:solidFill>
              <a:srgbClr val="F37021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40" name="Image 3" descr="preencoded.png">
              <a:extLst>
                <a:ext uri="{FF2B5EF4-FFF2-40B4-BE49-F238E27FC236}">
                  <a16:creationId xmlns:a16="http://schemas.microsoft.com/office/drawing/2014/main" id="{9E7787F4-F959-FD14-26D4-3E8D969DE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50531" y="1712671"/>
              <a:ext cx="268834" cy="268834"/>
            </a:xfrm>
            <a:prstGeom prst="rect">
              <a:avLst/>
            </a:prstGeom>
          </p:spPr>
        </p:pic>
        <p:sp>
          <p:nvSpPr>
            <p:cNvPr id="41" name="Text 41">
              <a:extLst>
                <a:ext uri="{FF2B5EF4-FFF2-40B4-BE49-F238E27FC236}">
                  <a16:creationId xmlns:a16="http://schemas.microsoft.com/office/drawing/2014/main" id="{25DF307D-01C9-62AD-CB59-D953BAD981C1}"/>
                </a:ext>
              </a:extLst>
            </p:cNvPr>
            <p:cNvSpPr/>
            <p:nvPr/>
          </p:nvSpPr>
          <p:spPr>
            <a:xfrm>
              <a:off x="7950708" y="1572768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Operations</a:t>
              </a:r>
              <a:endParaRPr lang="en-US" sz="1150" dirty="0"/>
            </a:p>
          </p:txBody>
        </p:sp>
        <p:sp>
          <p:nvSpPr>
            <p:cNvPr id="42" name="Text 44">
              <a:extLst>
                <a:ext uri="{FF2B5EF4-FFF2-40B4-BE49-F238E27FC236}">
                  <a16:creationId xmlns:a16="http://schemas.microsoft.com/office/drawing/2014/main" id="{1FE2ABC3-108C-B1FD-086C-A1DAC667D897}"/>
                </a:ext>
              </a:extLst>
            </p:cNvPr>
            <p:cNvSpPr/>
            <p:nvPr/>
          </p:nvSpPr>
          <p:spPr>
            <a:xfrm>
              <a:off x="7310628" y="2139696"/>
              <a:ext cx="193852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850" dirty="0"/>
            </a:p>
          </p:txBody>
        </p:sp>
        <p:sp>
          <p:nvSpPr>
            <p:cNvPr id="43" name="Text 45">
              <a:extLst>
                <a:ext uri="{FF2B5EF4-FFF2-40B4-BE49-F238E27FC236}">
                  <a16:creationId xmlns:a16="http://schemas.microsoft.com/office/drawing/2014/main" id="{3EA0E98F-1FA9-7ACE-602C-90062138673A}"/>
                </a:ext>
              </a:extLst>
            </p:cNvPr>
            <p:cNvSpPr/>
            <p:nvPr/>
          </p:nvSpPr>
          <p:spPr>
            <a:xfrm>
              <a:off x="7374374" y="2359152"/>
              <a:ext cx="1938528" cy="1225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>
                  <a:solidFill>
                    <a:srgbClr val="1B1E3D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Danh mục chứng từ · lịch định giá · khởi tạo yêu cầu xử lý</a:t>
              </a:r>
              <a:endParaRPr lang="en-US" sz="900" dirty="0"/>
            </a:p>
          </p:txBody>
        </p:sp>
      </p:grpSp>
      <p:sp>
        <p:nvSpPr>
          <p:cNvPr id="44" name="Shape 46">
            <a:extLst>
              <a:ext uri="{FF2B5EF4-FFF2-40B4-BE49-F238E27FC236}">
                <a16:creationId xmlns:a16="http://schemas.microsoft.com/office/drawing/2014/main" id="{817B6C8B-6AED-FF9C-1666-214025A7D7BE}"/>
              </a:ext>
            </a:extLst>
          </p:cNvPr>
          <p:cNvSpPr/>
          <p:nvPr/>
        </p:nvSpPr>
        <p:spPr>
          <a:xfrm>
            <a:off x="9436608" y="1481328"/>
            <a:ext cx="2084832" cy="2267712"/>
          </a:xfrm>
          <a:prstGeom prst="roundRect">
            <a:avLst>
              <a:gd name="adj" fmla="val 3509"/>
            </a:avLst>
          </a:prstGeom>
          <a:solidFill>
            <a:srgbClr val="FEF9F6"/>
          </a:solidFill>
          <a:ln w="12700">
            <a:solidFill>
              <a:srgbClr val="FDF0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Shape 47">
            <a:extLst>
              <a:ext uri="{FF2B5EF4-FFF2-40B4-BE49-F238E27FC236}">
                <a16:creationId xmlns:a16="http://schemas.microsoft.com/office/drawing/2014/main" id="{9DD4515F-3EC4-D137-0154-E366184FD5C1}"/>
              </a:ext>
            </a:extLst>
          </p:cNvPr>
          <p:cNvSpPr/>
          <p:nvPr/>
        </p:nvSpPr>
        <p:spPr>
          <a:xfrm>
            <a:off x="9528048" y="1591056"/>
            <a:ext cx="512064" cy="512064"/>
          </a:xfrm>
          <a:prstGeom prst="ellipse">
            <a:avLst/>
          </a:prstGeom>
          <a:solidFill>
            <a:srgbClr val="1D20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4" descr="preencoded.png">
            <a:extLst>
              <a:ext uri="{FF2B5EF4-FFF2-40B4-BE49-F238E27FC236}">
                <a16:creationId xmlns:a16="http://schemas.microsoft.com/office/drawing/2014/main" id="{9C092346-FF67-B8F2-77DC-FF5B9A0A60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9663" y="1712671"/>
            <a:ext cx="268834" cy="268834"/>
          </a:xfrm>
          <a:prstGeom prst="rect">
            <a:avLst/>
          </a:prstGeom>
        </p:spPr>
      </p:pic>
      <p:sp>
        <p:nvSpPr>
          <p:cNvPr id="47" name="Text 48">
            <a:extLst>
              <a:ext uri="{FF2B5EF4-FFF2-40B4-BE49-F238E27FC236}">
                <a16:creationId xmlns:a16="http://schemas.microsoft.com/office/drawing/2014/main" id="{D472B57B-4DBB-E734-CAD2-1E5506B0EDE8}"/>
              </a:ext>
            </a:extLst>
          </p:cNvPr>
          <p:cNvSpPr/>
          <p:nvPr/>
        </p:nvSpPr>
        <p:spPr>
          <a:xfrm>
            <a:off x="10149840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</a:t>
            </a:r>
            <a:endParaRPr lang="en-US" sz="1150" dirty="0"/>
          </a:p>
        </p:txBody>
      </p:sp>
      <p:sp>
        <p:nvSpPr>
          <p:cNvPr id="48" name="Text 51">
            <a:extLst>
              <a:ext uri="{FF2B5EF4-FFF2-40B4-BE49-F238E27FC236}">
                <a16:creationId xmlns:a16="http://schemas.microsoft.com/office/drawing/2014/main" id="{24DFA5B1-5FD5-34FB-7D3B-39AD38840FF0}"/>
              </a:ext>
            </a:extLst>
          </p:cNvPr>
          <p:cNvSpPr/>
          <p:nvPr/>
        </p:nvSpPr>
        <p:spPr>
          <a:xfrm>
            <a:off x="9509760" y="213969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Phản</a:t>
            </a:r>
            <a:r>
              <a:rPr lang="en-US" sz="850" i="1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850" i="1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biện</a:t>
            </a:r>
            <a:endParaRPr lang="en-US" sz="850" dirty="0"/>
          </a:p>
        </p:txBody>
      </p:sp>
      <p:sp>
        <p:nvSpPr>
          <p:cNvPr id="49" name="Text 52">
            <a:extLst>
              <a:ext uri="{FF2B5EF4-FFF2-40B4-BE49-F238E27FC236}">
                <a16:creationId xmlns:a16="http://schemas.microsoft.com/office/drawing/2014/main" id="{D9611015-6F1D-4D7F-55FB-6692AD3FEAA3}"/>
              </a:ext>
            </a:extLst>
          </p:cNvPr>
          <p:cNvSpPr/>
          <p:nvPr/>
        </p:nvSpPr>
        <p:spPr>
          <a:xfrm>
            <a:off x="9509760" y="2359152"/>
            <a:ext cx="19385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Phản biện </a:t>
            </a:r>
            <a:r>
              <a:rPr lang="en-US" sz="900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độc</a:t>
            </a:r>
            <a:r>
              <a:rPr lang="en-US" sz="900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lập</a:t>
            </a:r>
            <a:r>
              <a:rPr lang="en-US" sz="900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900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đề</a:t>
            </a:r>
            <a:r>
              <a:rPr lang="en-US" sz="900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xuất hiệu chỉnh</a:t>
            </a:r>
            <a:endParaRPr lang="en-US" sz="900" dirty="0"/>
          </a:p>
        </p:txBody>
      </p:sp>
      <p:sp>
        <p:nvSpPr>
          <p:cNvPr id="50" name="Shape 53">
            <a:extLst>
              <a:ext uri="{FF2B5EF4-FFF2-40B4-BE49-F238E27FC236}">
                <a16:creationId xmlns:a16="http://schemas.microsoft.com/office/drawing/2014/main" id="{CBDD84A5-B0CA-E392-0FBF-B7A5B48C6AF0}"/>
              </a:ext>
            </a:extLst>
          </p:cNvPr>
          <p:cNvSpPr/>
          <p:nvPr/>
        </p:nvSpPr>
        <p:spPr>
          <a:xfrm>
            <a:off x="640080" y="3950208"/>
            <a:ext cx="10881360" cy="1444752"/>
          </a:xfrm>
          <a:prstGeom prst="roundRect">
            <a:avLst>
              <a:gd name="adj" fmla="val 5063"/>
            </a:avLst>
          </a:prstGeom>
          <a:solidFill>
            <a:srgbClr val="ECE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54">
            <a:extLst>
              <a:ext uri="{FF2B5EF4-FFF2-40B4-BE49-F238E27FC236}">
                <a16:creationId xmlns:a16="http://schemas.microsoft.com/office/drawing/2014/main" id="{FB969B7E-1E65-AEC2-2F55-E6935690DC35}"/>
              </a:ext>
            </a:extLst>
          </p:cNvPr>
          <p:cNvSpPr/>
          <p:nvPr/>
        </p:nvSpPr>
        <p:spPr>
          <a:xfrm>
            <a:off x="822960" y="4041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204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Planner điều phối dựa vào:</a:t>
            </a:r>
            <a:endParaRPr lang="en-US" sz="1000" dirty="0"/>
          </a:p>
        </p:txBody>
      </p:sp>
      <p:sp>
        <p:nvSpPr>
          <p:cNvPr id="52" name="Shape 55">
            <a:extLst>
              <a:ext uri="{FF2B5EF4-FFF2-40B4-BE49-F238E27FC236}">
                <a16:creationId xmlns:a16="http://schemas.microsoft.com/office/drawing/2014/main" id="{9CA82B5A-D19C-D62D-E92F-A3F8015EB248}"/>
              </a:ext>
            </a:extLst>
          </p:cNvPr>
          <p:cNvSpPr/>
          <p:nvPr/>
        </p:nvSpPr>
        <p:spPr>
          <a:xfrm>
            <a:off x="822960" y="4352544"/>
            <a:ext cx="219456" cy="219456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6">
            <a:extLst>
              <a:ext uri="{FF2B5EF4-FFF2-40B4-BE49-F238E27FC236}">
                <a16:creationId xmlns:a16="http://schemas.microsoft.com/office/drawing/2014/main" id="{CEAF843E-41AC-E22C-D8AC-3160DF7E1E82}"/>
              </a:ext>
            </a:extLst>
          </p:cNvPr>
          <p:cNvSpPr/>
          <p:nvPr/>
        </p:nvSpPr>
        <p:spPr>
          <a:xfrm>
            <a:off x="1097280" y="4334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Cấu hình quy trình</a:t>
            </a:r>
            <a:endParaRPr lang="en-US" sz="1000" dirty="0"/>
          </a:p>
        </p:txBody>
      </p:sp>
      <p:sp>
        <p:nvSpPr>
          <p:cNvPr id="54" name="Text 57">
            <a:extLst>
              <a:ext uri="{FF2B5EF4-FFF2-40B4-BE49-F238E27FC236}">
                <a16:creationId xmlns:a16="http://schemas.microsoft.com/office/drawing/2014/main" id="{FB8F22C8-C7B7-FD06-EE3F-351B76E6E059}"/>
              </a:ext>
            </a:extLst>
          </p:cNvPr>
          <p:cNvSpPr/>
          <p:nvPr/>
        </p:nvSpPr>
        <p:spPr>
          <a:xfrm>
            <a:off x="1097280" y="459028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Mỗi sản phẩm/gói vay định sẵn: tác tử nào, trình tự nào, song song ở đâu → Planner dựng DAG thực thi</a:t>
            </a:r>
            <a:endParaRPr lang="en-US" sz="900" dirty="0"/>
          </a:p>
        </p:txBody>
      </p:sp>
      <p:sp>
        <p:nvSpPr>
          <p:cNvPr id="55" name="Shape 58">
            <a:extLst>
              <a:ext uri="{FF2B5EF4-FFF2-40B4-BE49-F238E27FC236}">
                <a16:creationId xmlns:a16="http://schemas.microsoft.com/office/drawing/2014/main" id="{802029BB-9983-2CEC-8161-2B27A9C73E3E}"/>
              </a:ext>
            </a:extLst>
          </p:cNvPr>
          <p:cNvSpPr/>
          <p:nvPr/>
        </p:nvSpPr>
        <p:spPr>
          <a:xfrm>
            <a:off x="4462272" y="4352544"/>
            <a:ext cx="219456" cy="219456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9">
            <a:extLst>
              <a:ext uri="{FF2B5EF4-FFF2-40B4-BE49-F238E27FC236}">
                <a16:creationId xmlns:a16="http://schemas.microsoft.com/office/drawing/2014/main" id="{8E46DDE5-B8F9-C038-5B45-9D48E7819613}"/>
              </a:ext>
            </a:extLst>
          </p:cNvPr>
          <p:cNvSpPr/>
          <p:nvPr/>
        </p:nvSpPr>
        <p:spPr>
          <a:xfrm>
            <a:off x="4736592" y="4334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Đặc điểm hồ sơ</a:t>
            </a:r>
            <a:endParaRPr lang="en-US" sz="1000" dirty="0"/>
          </a:p>
        </p:txBody>
      </p:sp>
      <p:sp>
        <p:nvSpPr>
          <p:cNvPr id="57" name="Text 60">
            <a:extLst>
              <a:ext uri="{FF2B5EF4-FFF2-40B4-BE49-F238E27FC236}">
                <a16:creationId xmlns:a16="http://schemas.microsoft.com/office/drawing/2014/main" id="{B660862C-4E0D-F34B-001B-EE6D7230D294}"/>
              </a:ext>
            </a:extLst>
          </p:cNvPr>
          <p:cNvSpPr/>
          <p:nvPr/>
        </p:nvSpPr>
        <p:spPr>
          <a:xfrm>
            <a:off x="4736592" y="459028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Đơn giản → luồng rút gọn, tự động gần hết · Phức tạp → luồng đầy đủ, thêm bước xác minh</a:t>
            </a:r>
            <a:endParaRPr lang="en-US" sz="900" dirty="0"/>
          </a:p>
        </p:txBody>
      </p:sp>
      <p:sp>
        <p:nvSpPr>
          <p:cNvPr id="58" name="Shape 61">
            <a:extLst>
              <a:ext uri="{FF2B5EF4-FFF2-40B4-BE49-F238E27FC236}">
                <a16:creationId xmlns:a16="http://schemas.microsoft.com/office/drawing/2014/main" id="{8F35A5BB-2CC3-28CE-3FA0-792C21D5FD35}"/>
              </a:ext>
            </a:extLst>
          </p:cNvPr>
          <p:cNvSpPr/>
          <p:nvPr/>
        </p:nvSpPr>
        <p:spPr>
          <a:xfrm>
            <a:off x="8101584" y="4352544"/>
            <a:ext cx="219456" cy="219456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62">
            <a:extLst>
              <a:ext uri="{FF2B5EF4-FFF2-40B4-BE49-F238E27FC236}">
                <a16:creationId xmlns:a16="http://schemas.microsoft.com/office/drawing/2014/main" id="{DC69FD09-C433-BF30-2A61-C824A656BB7E}"/>
              </a:ext>
            </a:extLst>
          </p:cNvPr>
          <p:cNvSpPr/>
          <p:nvPr/>
        </p:nvSpPr>
        <p:spPr>
          <a:xfrm>
            <a:off x="8375904" y="4334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Tín hiệu phản hồi</a:t>
            </a:r>
            <a:endParaRPr lang="en-US" sz="1000" dirty="0"/>
          </a:p>
        </p:txBody>
      </p:sp>
      <p:sp>
        <p:nvSpPr>
          <p:cNvPr id="60" name="Text 63">
            <a:extLst>
              <a:ext uri="{FF2B5EF4-FFF2-40B4-BE49-F238E27FC236}">
                <a16:creationId xmlns:a16="http://schemas.microsoft.com/office/drawing/2014/main" id="{772290A6-1B91-969A-497C-1F078DAC0EBF}"/>
              </a:ext>
            </a:extLst>
          </p:cNvPr>
          <p:cNvSpPr/>
          <p:nvPr/>
        </p:nvSpPr>
        <p:spPr>
          <a:xfrm>
            <a:off x="8375904" y="459028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 phủ quyết hoặc Critic phát hiện sai lệch → Planner tái lập kế hoạch, gọi lại agent cần thiết</a:t>
            </a:r>
            <a:endParaRPr lang="en-US" sz="900" dirty="0"/>
          </a:p>
        </p:txBody>
      </p:sp>
      <p:sp>
        <p:nvSpPr>
          <p:cNvPr id="61" name="Text 4">
            <a:extLst>
              <a:ext uri="{FF2B5EF4-FFF2-40B4-BE49-F238E27FC236}">
                <a16:creationId xmlns:a16="http://schemas.microsoft.com/office/drawing/2014/main" id="{B72300F0-5885-C74C-0946-E6F3BC78DF1A}"/>
              </a:ext>
            </a:extLst>
          </p:cNvPr>
          <p:cNvSpPr/>
          <p:nvPr/>
        </p:nvSpPr>
        <p:spPr>
          <a:xfrm>
            <a:off x="640080" y="91440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Agent </a:t>
            </a:r>
            <a:r>
              <a:rPr lang="en-US" sz="190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có</a:t>
            </a:r>
            <a:r>
              <a:rPr lang="en-US" sz="19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quyền</a:t>
            </a:r>
            <a:r>
              <a:rPr lang="en-US" sz="19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hạn</a:t>
            </a:r>
            <a:r>
              <a:rPr lang="en-US" sz="19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tách</a:t>
            </a:r>
            <a:r>
              <a:rPr lang="en-US" sz="19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bạch</a:t>
            </a:r>
            <a:r>
              <a:rPr lang="en-US" sz="19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</p:txBody>
      </p:sp>
      <p:sp>
        <p:nvSpPr>
          <p:cNvPr id="62" name="Text 35">
            <a:extLst>
              <a:ext uri="{FF2B5EF4-FFF2-40B4-BE49-F238E27FC236}">
                <a16:creationId xmlns:a16="http://schemas.microsoft.com/office/drawing/2014/main" id="{610F2FAC-8421-9393-E0E3-F6035CA55BBC}"/>
              </a:ext>
            </a:extLst>
          </p:cNvPr>
          <p:cNvSpPr/>
          <p:nvPr/>
        </p:nvSpPr>
        <p:spPr>
          <a:xfrm>
            <a:off x="5153199" y="2135263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Định </a:t>
            </a:r>
            <a:r>
              <a:rPr lang="en-US" sz="850" i="1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giá</a:t>
            </a:r>
            <a:r>
              <a:rPr lang="en-US" sz="850" i="1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TSBĐ</a:t>
            </a:r>
            <a:endParaRPr lang="en-US" sz="850" dirty="0"/>
          </a:p>
        </p:txBody>
      </p:sp>
      <p:sp>
        <p:nvSpPr>
          <p:cNvPr id="80" name="Shape 66">
            <a:extLst>
              <a:ext uri="{FF2B5EF4-FFF2-40B4-BE49-F238E27FC236}">
                <a16:creationId xmlns:a16="http://schemas.microsoft.com/office/drawing/2014/main" id="{F5A3ACF8-F0EC-FC90-EC00-4D4D91C37FBD}"/>
              </a:ext>
            </a:extLst>
          </p:cNvPr>
          <p:cNvSpPr/>
          <p:nvPr/>
        </p:nvSpPr>
        <p:spPr>
          <a:xfrm>
            <a:off x="640080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2" name="Text 67">
            <a:extLst>
              <a:ext uri="{FF2B5EF4-FFF2-40B4-BE49-F238E27FC236}">
                <a16:creationId xmlns:a16="http://schemas.microsoft.com/office/drawing/2014/main" id="{184B44E4-DAE6-4626-E3BB-4E7023C63CC3}"/>
              </a:ext>
            </a:extLst>
          </p:cNvPr>
          <p:cNvSpPr/>
          <p:nvPr/>
        </p:nvSpPr>
        <p:spPr>
          <a:xfrm>
            <a:off x="640080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</a:t>
            </a:r>
            <a:r>
              <a:rPr 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Bài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toán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4" name="Shape 68">
            <a:extLst>
              <a:ext uri="{FF2B5EF4-FFF2-40B4-BE49-F238E27FC236}">
                <a16:creationId xmlns:a16="http://schemas.microsoft.com/office/drawing/2014/main" id="{7FC31850-2F34-7D40-68DC-E01BF527E13E}"/>
              </a:ext>
            </a:extLst>
          </p:cNvPr>
          <p:cNvSpPr/>
          <p:nvPr/>
        </p:nvSpPr>
        <p:spPr>
          <a:xfrm>
            <a:off x="2838298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69">
            <a:extLst>
              <a:ext uri="{FF2B5EF4-FFF2-40B4-BE49-F238E27FC236}">
                <a16:creationId xmlns:a16="http://schemas.microsoft.com/office/drawing/2014/main" id="{C0A9324E-7707-7B40-A13C-ED6F083D127E}"/>
              </a:ext>
            </a:extLst>
          </p:cNvPr>
          <p:cNvSpPr/>
          <p:nvPr/>
        </p:nvSpPr>
        <p:spPr>
          <a:xfrm>
            <a:off x="2838298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</a:t>
            </a:r>
            <a:r>
              <a:rPr lang="en-US" sz="900" b="1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</a:t>
            </a:r>
            <a:r>
              <a:rPr lang="en-US" sz="900" b="1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900" b="1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pháp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88" name="Shape 70">
            <a:extLst>
              <a:ext uri="{FF2B5EF4-FFF2-40B4-BE49-F238E27FC236}">
                <a16:creationId xmlns:a16="http://schemas.microsoft.com/office/drawing/2014/main" id="{D0CD3A0F-FED8-306A-84BE-495F68A942B2}"/>
              </a:ext>
            </a:extLst>
          </p:cNvPr>
          <p:cNvSpPr/>
          <p:nvPr/>
        </p:nvSpPr>
        <p:spPr>
          <a:xfrm>
            <a:off x="5036515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0" name="Text 71">
            <a:extLst>
              <a:ext uri="{FF2B5EF4-FFF2-40B4-BE49-F238E27FC236}">
                <a16:creationId xmlns:a16="http://schemas.microsoft.com/office/drawing/2014/main" id="{B7C665EB-6F22-C2E5-0CD0-A933BF43EB37}"/>
              </a:ext>
            </a:extLst>
          </p:cNvPr>
          <p:cNvSpPr/>
          <p:nvPr/>
        </p:nvSpPr>
        <p:spPr>
          <a:xfrm>
            <a:off x="5036515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trị</a:t>
            </a:r>
            <a:endParaRPr lang="en-US" sz="900" dirty="0"/>
          </a:p>
        </p:txBody>
      </p:sp>
      <p:sp>
        <p:nvSpPr>
          <p:cNvPr id="92" name="Shape 72">
            <a:extLst>
              <a:ext uri="{FF2B5EF4-FFF2-40B4-BE49-F238E27FC236}">
                <a16:creationId xmlns:a16="http://schemas.microsoft.com/office/drawing/2014/main" id="{6A9492CA-32C7-FB5D-E781-5DA9DCC52C0B}"/>
              </a:ext>
            </a:extLst>
          </p:cNvPr>
          <p:cNvSpPr/>
          <p:nvPr/>
        </p:nvSpPr>
        <p:spPr>
          <a:xfrm>
            <a:off x="7234733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4" name="Text 73">
            <a:extLst>
              <a:ext uri="{FF2B5EF4-FFF2-40B4-BE49-F238E27FC236}">
                <a16:creationId xmlns:a16="http://schemas.microsoft.com/office/drawing/2014/main" id="{C3CB660D-35A6-0219-81F8-ED034BDADF85}"/>
              </a:ext>
            </a:extLst>
          </p:cNvPr>
          <p:cNvSpPr/>
          <p:nvPr/>
        </p:nvSpPr>
        <p:spPr>
          <a:xfrm>
            <a:off x="7234733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Lộ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trình</a:t>
            </a:r>
            <a:endParaRPr lang="en-US" sz="900" dirty="0"/>
          </a:p>
        </p:txBody>
      </p:sp>
      <p:sp>
        <p:nvSpPr>
          <p:cNvPr id="96" name="Shape 74">
            <a:extLst>
              <a:ext uri="{FF2B5EF4-FFF2-40B4-BE49-F238E27FC236}">
                <a16:creationId xmlns:a16="http://schemas.microsoft.com/office/drawing/2014/main" id="{BE69B0D3-48F3-0D97-165E-84260C135469}"/>
              </a:ext>
            </a:extLst>
          </p:cNvPr>
          <p:cNvSpPr/>
          <p:nvPr/>
        </p:nvSpPr>
        <p:spPr>
          <a:xfrm>
            <a:off x="9432950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75">
            <a:extLst>
              <a:ext uri="{FF2B5EF4-FFF2-40B4-BE49-F238E27FC236}">
                <a16:creationId xmlns:a16="http://schemas.microsoft.com/office/drawing/2014/main" id="{72219A95-5156-CF52-4081-B14F8922EF5D}"/>
              </a:ext>
            </a:extLst>
          </p:cNvPr>
          <p:cNvSpPr/>
          <p:nvPr/>
        </p:nvSpPr>
        <p:spPr>
          <a:xfrm>
            <a:off x="9432950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hình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kinh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doanh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99717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28ABC93A-E71F-8961-47A5-19E9EDA25951}"/>
              </a:ext>
            </a:extLst>
          </p:cNvPr>
          <p:cNvSpPr/>
          <p:nvPr/>
        </p:nvSpPr>
        <p:spPr>
          <a:xfrm>
            <a:off x="640080" y="310896"/>
            <a:ext cx="2341778" cy="329184"/>
          </a:xfrm>
          <a:prstGeom prst="roundRect">
            <a:avLst>
              <a:gd name="adj" fmla="val 50000"/>
            </a:avLst>
          </a:prstGeom>
          <a:solidFill>
            <a:srgbClr val="FEF1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B618516-B4BC-AF01-A091-B4AAF88157C9}"/>
              </a:ext>
            </a:extLst>
          </p:cNvPr>
          <p:cNvSpPr/>
          <p:nvPr/>
        </p:nvSpPr>
        <p:spPr>
          <a:xfrm>
            <a:off x="640080" y="310896"/>
            <a:ext cx="2341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· HAPPY PATH (STP)</a:t>
            </a:r>
            <a:endParaRPr lang="en-US" sz="1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F63FF17-BF86-15F4-F52E-101A3D6F3D92}"/>
              </a:ext>
            </a:extLst>
          </p:cNvPr>
          <p:cNvSpPr/>
          <p:nvPr/>
        </p:nvSpPr>
        <p:spPr>
          <a:xfrm>
            <a:off x="640080" y="72237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 TÍN CHẤP TIÊU DÙNG · KHÁCH HÀNG HIỆN HỮU RỦI RO THẤP</a:t>
            </a:r>
            <a:endParaRPr lang="en-US" sz="10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B320CA8-E916-DDC2-9E69-5C7766EC81EB}"/>
              </a:ext>
            </a:extLst>
          </p:cNvPr>
          <p:cNvSpPr/>
          <p:nvPr/>
        </p:nvSpPr>
        <p:spPr>
          <a:xfrm>
            <a:off x="640080" y="96926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90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</a:t>
            </a:r>
            <a:r>
              <a:rPr lang="en-US" sz="190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</a:t>
            </a:r>
            <a:r>
              <a:rPr lang="en-US" sz="190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</a:t>
            </a:r>
            <a:r>
              <a:rPr lang="en-US" sz="190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r>
              <a:rPr lang="en-US" sz="190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</a:t>
            </a:r>
            <a:r>
              <a:rPr lang="en-US" sz="190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900" b="1" dirty="0" err="1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90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r>
              <a:rPr lang="en-US" sz="190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90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</a:t>
            </a:r>
            <a:r>
              <a:rPr lang="en-US" sz="190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</a:t>
            </a:r>
            <a:r>
              <a:rPr lang="en-US" sz="19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9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endParaRPr lang="en-US" sz="19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A641EE4E-FEF0-541B-0ADF-37F3C8A112EB}"/>
              </a:ext>
            </a:extLst>
          </p:cNvPr>
          <p:cNvSpPr/>
          <p:nvPr/>
        </p:nvSpPr>
        <p:spPr>
          <a:xfrm>
            <a:off x="640080" y="1444752"/>
            <a:ext cx="3520440" cy="4357532"/>
          </a:xfrm>
          <a:prstGeom prst="roundRect">
            <a:avLst>
              <a:gd name="adj" fmla="val 2597"/>
            </a:avLst>
          </a:prstGeom>
          <a:solidFill>
            <a:srgbClr val="FFF6EF"/>
          </a:solidFill>
          <a:ln w="12700">
            <a:solidFill>
              <a:srgbClr val="F3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3203F83D-FF47-9940-7D13-BA009A67E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084" y="1627632"/>
            <a:ext cx="1170432" cy="1170432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618BABEC-28C7-76CF-EC7C-B06356BE751F}"/>
              </a:ext>
            </a:extLst>
          </p:cNvPr>
          <p:cNvSpPr/>
          <p:nvPr/>
        </p:nvSpPr>
        <p:spPr>
          <a:xfrm>
            <a:off x="777240" y="2852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Chị Minh Anh · 32 tuổi</a:t>
            </a:r>
            <a:endParaRPr lang="en-US" sz="14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B9E90B13-B6EF-903B-51A3-0099690D3C41}"/>
              </a:ext>
            </a:extLst>
          </p:cNvPr>
          <p:cNvSpPr/>
          <p:nvPr/>
        </p:nvSpPr>
        <p:spPr>
          <a:xfrm>
            <a:off x="914400" y="31272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sư phần mềm — HĐLĐ không xác định thời hạn, thâm niên 5 năm</a:t>
            </a:r>
            <a:endParaRPr lang="en-US" sz="850" dirty="0"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E06DB008-7B11-EB8E-2640-7EFDE1BEC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630168"/>
            <a:ext cx="164592" cy="164592"/>
          </a:xfrm>
          <a:prstGeom prst="rect">
            <a:avLst/>
          </a:prstGeom>
        </p:spPr>
      </p:pic>
      <p:sp>
        <p:nvSpPr>
          <p:cNvPr id="21" name="Text 8">
            <a:extLst>
              <a:ext uri="{FF2B5EF4-FFF2-40B4-BE49-F238E27FC236}">
                <a16:creationId xmlns:a16="http://schemas.microsoft.com/office/drawing/2014/main" id="{0D3B5533-234C-777F-E83D-6AC52C73F7E2}"/>
              </a:ext>
            </a:extLst>
          </p:cNvPr>
          <p:cNvSpPr/>
          <p:nvPr/>
        </p:nvSpPr>
        <p:spPr>
          <a:xfrm>
            <a:off x="1115568" y="357530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nhập 25 tr/tháng — trả qua TK lương</a:t>
            </a:r>
            <a:endParaRPr lang="en-US" sz="87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A54A5698-35B5-6ED2-7F78-597C8FA31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931920"/>
            <a:ext cx="164592" cy="164592"/>
          </a:xfrm>
          <a:prstGeom prst="rect">
            <a:avLst/>
          </a:prstGeom>
        </p:spPr>
      </p:pic>
      <p:sp>
        <p:nvSpPr>
          <p:cNvPr id="25" name="Text 9">
            <a:extLst>
              <a:ext uri="{FF2B5EF4-FFF2-40B4-BE49-F238E27FC236}">
                <a16:creationId xmlns:a16="http://schemas.microsoft.com/office/drawing/2014/main" id="{F6F05CBD-4F33-4884-B4D5-F2FC865A0092}"/>
              </a:ext>
            </a:extLst>
          </p:cNvPr>
          <p:cNvSpPr/>
          <p:nvPr/>
        </p:nvSpPr>
        <p:spPr>
          <a:xfrm>
            <a:off x="1115568" y="38770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 nhóm 1 · 680đ (rất tốt) · không nợ xấu</a:t>
            </a:r>
            <a:endParaRPr lang="en-US" sz="870" dirty="0"/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4445D728-8B09-A901-813E-FFBBD1305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233672"/>
            <a:ext cx="164592" cy="164592"/>
          </a:xfrm>
          <a:prstGeom prst="rect">
            <a:avLst/>
          </a:prstGeom>
        </p:spPr>
      </p:pic>
      <p:sp>
        <p:nvSpPr>
          <p:cNvPr id="29" name="Text 10">
            <a:extLst>
              <a:ext uri="{FF2B5EF4-FFF2-40B4-BE49-F238E27FC236}">
                <a16:creationId xmlns:a16="http://schemas.microsoft.com/office/drawing/2014/main" id="{10F63F48-98B8-912A-F2FB-9F82C4DE5182}"/>
              </a:ext>
            </a:extLst>
          </p:cNvPr>
          <p:cNvSpPr/>
          <p:nvPr/>
        </p:nvSpPr>
        <p:spPr>
          <a:xfrm>
            <a:off x="1115568" y="41788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sau vay ≈ 28% (dưới ngưỡng 36%)</a:t>
            </a:r>
            <a:endParaRPr lang="en-US" sz="870" dirty="0"/>
          </a:p>
        </p:txBody>
      </p:sp>
      <p:pic>
        <p:nvPicPr>
          <p:cNvPr id="31" name="Image 4" descr="preencoded.png">
            <a:extLst>
              <a:ext uri="{FF2B5EF4-FFF2-40B4-BE49-F238E27FC236}">
                <a16:creationId xmlns:a16="http://schemas.microsoft.com/office/drawing/2014/main" id="{69D6E683-E339-B141-C4C6-138FB3D38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535424"/>
            <a:ext cx="164592" cy="164592"/>
          </a:xfrm>
          <a:prstGeom prst="rect">
            <a:avLst/>
          </a:prstGeom>
        </p:spPr>
      </p:pic>
      <p:sp>
        <p:nvSpPr>
          <p:cNvPr id="33" name="Text 11">
            <a:extLst>
              <a:ext uri="{FF2B5EF4-FFF2-40B4-BE49-F238E27FC236}">
                <a16:creationId xmlns:a16="http://schemas.microsoft.com/office/drawing/2014/main" id="{E671DE6D-8EF9-492D-802C-ACA05DEAD604}"/>
              </a:ext>
            </a:extLst>
          </p:cNvPr>
          <p:cNvSpPr/>
          <p:nvPr/>
        </p:nvSpPr>
        <p:spPr>
          <a:xfrm>
            <a:off x="1115568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 hiện hữu 4 năm · eKYC · sạch AML</a:t>
            </a:r>
            <a:endParaRPr lang="en-US" sz="87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AB46CF7C-08CC-526F-0DF9-25FC2F792CC7}"/>
              </a:ext>
            </a:extLst>
          </p:cNvPr>
          <p:cNvSpPr/>
          <p:nvPr/>
        </p:nvSpPr>
        <p:spPr>
          <a:xfrm>
            <a:off x="804672" y="4846320"/>
            <a:ext cx="3191256" cy="713232"/>
          </a:xfrm>
          <a:prstGeom prst="roundRect">
            <a:avLst>
              <a:gd name="adj" fmla="val 8974"/>
            </a:avLst>
          </a:prstGeom>
          <a:solidFill>
            <a:srgbClr val="FEF1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>
            <a:extLst>
              <a:ext uri="{FF2B5EF4-FFF2-40B4-BE49-F238E27FC236}">
                <a16:creationId xmlns:a16="http://schemas.microsoft.com/office/drawing/2014/main" id="{B8E2A7B7-738A-3B26-322D-E7DBC3E7FA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965192"/>
            <a:ext cx="155448" cy="155448"/>
          </a:xfrm>
          <a:prstGeom prst="rect">
            <a:avLst/>
          </a:prstGeom>
        </p:spPr>
      </p:pic>
      <p:sp>
        <p:nvSpPr>
          <p:cNvPr id="39" name="Text 13">
            <a:extLst>
              <a:ext uri="{FF2B5EF4-FFF2-40B4-BE49-F238E27FC236}">
                <a16:creationId xmlns:a16="http://schemas.microsoft.com/office/drawing/2014/main" id="{50AC7838-E090-F738-EC45-C21E9B9A4E4C}"/>
              </a:ext>
            </a:extLst>
          </p:cNvPr>
          <p:cNvSpPr/>
          <p:nvPr/>
        </p:nvSpPr>
        <p:spPr>
          <a:xfrm>
            <a:off x="1143000" y="49469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VAY</a:t>
            </a:r>
            <a:endParaRPr lang="en-US" sz="85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DC0F2FA3-69E1-8EC1-394A-4F904E57B19C}"/>
              </a:ext>
            </a:extLst>
          </p:cNvPr>
          <p:cNvSpPr/>
          <p:nvPr/>
        </p:nvSpPr>
        <p:spPr>
          <a:xfrm>
            <a:off x="932688" y="5129784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 chấp pre-approved cho KH trả lương · hạn mức duyệt sẵn 150tr · vay 100tr / 24 tháng · giải ngân online</a:t>
            </a:r>
            <a:endParaRPr lang="en-US" sz="82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AB1BF1C0-19A4-83AE-B358-6C79533EE140}"/>
              </a:ext>
            </a:extLst>
          </p:cNvPr>
          <p:cNvSpPr/>
          <p:nvPr/>
        </p:nvSpPr>
        <p:spPr>
          <a:xfrm>
            <a:off x="822960" y="555040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Số liệu minh hoạ</a:t>
            </a:r>
            <a:endParaRPr lang="en-US" sz="73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AF0BBA8F-3DFE-6AE7-7A8F-914C014E96BD}"/>
              </a:ext>
            </a:extLst>
          </p:cNvPr>
          <p:cNvSpPr/>
          <p:nvPr/>
        </p:nvSpPr>
        <p:spPr>
          <a:xfrm>
            <a:off x="4389120" y="146304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 NHÂN VIÊN QUA 6 BƯỚC</a:t>
            </a:r>
            <a:endParaRPr lang="en-US" sz="110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712CAF8E-03EA-ED6D-F7D8-B1A5DA3DBE5A}"/>
              </a:ext>
            </a:extLst>
          </p:cNvPr>
          <p:cNvSpPr/>
          <p:nvPr/>
        </p:nvSpPr>
        <p:spPr>
          <a:xfrm>
            <a:off x="4617720" y="2176272"/>
            <a:ext cx="0" cy="91440"/>
          </a:xfrm>
          <a:prstGeom prst="line">
            <a:avLst/>
          </a:prstGeom>
          <a:noFill/>
          <a:ln w="12700">
            <a:solidFill>
              <a:srgbClr val="D9D9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56723434-4D0E-37FD-6306-28DA46AC0720}"/>
              </a:ext>
            </a:extLst>
          </p:cNvPr>
          <p:cNvSpPr/>
          <p:nvPr/>
        </p:nvSpPr>
        <p:spPr>
          <a:xfrm>
            <a:off x="4434840" y="1810512"/>
            <a:ext cx="365760" cy="365760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6" descr="preencoded.png">
            <a:extLst>
              <a:ext uri="{FF2B5EF4-FFF2-40B4-BE49-F238E27FC236}">
                <a16:creationId xmlns:a16="http://schemas.microsoft.com/office/drawing/2014/main" id="{A1A7C594-ABF3-6977-38EC-B6BB894CC9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3595" y="1909267"/>
            <a:ext cx="168250" cy="168250"/>
          </a:xfrm>
          <a:prstGeom prst="rect">
            <a:avLst/>
          </a:prstGeom>
        </p:spPr>
      </p:pic>
      <p:sp>
        <p:nvSpPr>
          <p:cNvPr id="53" name="Text 19">
            <a:extLst>
              <a:ext uri="{FF2B5EF4-FFF2-40B4-BE49-F238E27FC236}">
                <a16:creationId xmlns:a16="http://schemas.microsoft.com/office/drawing/2014/main" id="{E5636AC4-8278-6295-BAD3-9D8A00CCD4C3}"/>
              </a:ext>
            </a:extLst>
          </p:cNvPr>
          <p:cNvSpPr/>
          <p:nvPr/>
        </p:nvSpPr>
        <p:spPr>
          <a:xfrm>
            <a:off x="4965192" y="17830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</a:t>
            </a:r>
            <a:r>
              <a:rPr lang="en-US" sz="970" b="1" dirty="0" err="1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97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70" b="1" dirty="0" err="1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endParaRPr lang="en-US" sz="970" dirty="0"/>
          </a:p>
        </p:txBody>
      </p:sp>
      <p:sp>
        <p:nvSpPr>
          <p:cNvPr id="55" name="Shape 20">
            <a:extLst>
              <a:ext uri="{FF2B5EF4-FFF2-40B4-BE49-F238E27FC236}">
                <a16:creationId xmlns:a16="http://schemas.microsoft.com/office/drawing/2014/main" id="{BA6CBD39-655B-19EA-7BD3-D447C99B3B79}"/>
              </a:ext>
            </a:extLst>
          </p:cNvPr>
          <p:cNvSpPr/>
          <p:nvPr/>
        </p:nvSpPr>
        <p:spPr>
          <a:xfrm>
            <a:off x="10725912" y="1819656"/>
            <a:ext cx="795528" cy="210312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797B6A53-F8A0-AAA9-20AA-86EDC662A1F0}"/>
              </a:ext>
            </a:extLst>
          </p:cNvPr>
          <p:cNvSpPr/>
          <p:nvPr/>
        </p:nvSpPr>
        <p:spPr>
          <a:xfrm>
            <a:off x="10725912" y="1819656"/>
            <a:ext cx="795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NGƯỜI</a:t>
            </a:r>
            <a:endParaRPr lang="en-US" sz="750" dirty="0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48865C8D-12B7-5D12-CCC7-DA05FA00CB6C}"/>
              </a:ext>
            </a:extLst>
          </p:cNvPr>
          <p:cNvSpPr/>
          <p:nvPr/>
        </p:nvSpPr>
        <p:spPr>
          <a:xfrm>
            <a:off x="4965192" y="199339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nhận &amp; OCR chứng từ — điểm chạm con người duy nhất.</a:t>
            </a:r>
            <a:endParaRPr lang="en-US" sz="840" dirty="0"/>
          </a:p>
        </p:txBody>
      </p:sp>
      <p:sp>
        <p:nvSpPr>
          <p:cNvPr id="61" name="Shape 23">
            <a:extLst>
              <a:ext uri="{FF2B5EF4-FFF2-40B4-BE49-F238E27FC236}">
                <a16:creationId xmlns:a16="http://schemas.microsoft.com/office/drawing/2014/main" id="{C21F3827-984B-77D7-4827-4D612DA1556D}"/>
              </a:ext>
            </a:extLst>
          </p:cNvPr>
          <p:cNvSpPr/>
          <p:nvPr/>
        </p:nvSpPr>
        <p:spPr>
          <a:xfrm>
            <a:off x="4617720" y="2633472"/>
            <a:ext cx="0" cy="91440"/>
          </a:xfrm>
          <a:prstGeom prst="line">
            <a:avLst/>
          </a:prstGeom>
          <a:noFill/>
          <a:ln w="12700">
            <a:solidFill>
              <a:srgbClr val="D9D9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24">
            <a:extLst>
              <a:ext uri="{FF2B5EF4-FFF2-40B4-BE49-F238E27FC236}">
                <a16:creationId xmlns:a16="http://schemas.microsoft.com/office/drawing/2014/main" id="{CBF9B82E-65EE-F844-ED97-029BC71F8752}"/>
              </a:ext>
            </a:extLst>
          </p:cNvPr>
          <p:cNvSpPr/>
          <p:nvPr/>
        </p:nvSpPr>
        <p:spPr>
          <a:xfrm>
            <a:off x="4434840" y="2267712"/>
            <a:ext cx="365760" cy="365760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5" name="Image 7" descr="preencoded.png">
            <a:extLst>
              <a:ext uri="{FF2B5EF4-FFF2-40B4-BE49-F238E27FC236}">
                <a16:creationId xmlns:a16="http://schemas.microsoft.com/office/drawing/2014/main" id="{6C202E89-DC83-A612-7A7F-9B0DC9311B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3595" y="2366467"/>
            <a:ext cx="168250" cy="168250"/>
          </a:xfrm>
          <a:prstGeom prst="rect">
            <a:avLst/>
          </a:prstGeom>
        </p:spPr>
      </p:pic>
      <p:sp>
        <p:nvSpPr>
          <p:cNvPr id="67" name="Text 25">
            <a:extLst>
              <a:ext uri="{FF2B5EF4-FFF2-40B4-BE49-F238E27FC236}">
                <a16:creationId xmlns:a16="http://schemas.microsoft.com/office/drawing/2014/main" id="{F5102A71-5650-12C5-E968-1B139F985548}"/>
              </a:ext>
            </a:extLst>
          </p:cNvPr>
          <p:cNvSpPr/>
          <p:nvPr/>
        </p:nvSpPr>
        <p:spPr>
          <a:xfrm>
            <a:off x="4965192" y="22402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</a:t>
            </a:r>
            <a:r>
              <a:rPr lang="en-US" sz="970" b="1" dirty="0" err="1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97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70" b="1" dirty="0" err="1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</a:t>
            </a:r>
            <a:endParaRPr lang="en-US" sz="970" dirty="0"/>
          </a:p>
        </p:txBody>
      </p:sp>
      <p:sp>
        <p:nvSpPr>
          <p:cNvPr id="69" name="Shape 26">
            <a:extLst>
              <a:ext uri="{FF2B5EF4-FFF2-40B4-BE49-F238E27FC236}">
                <a16:creationId xmlns:a16="http://schemas.microsoft.com/office/drawing/2014/main" id="{81EFE041-5743-DD7D-DB77-165B0B1DBFCE}"/>
              </a:ext>
            </a:extLst>
          </p:cNvPr>
          <p:cNvSpPr/>
          <p:nvPr/>
        </p:nvSpPr>
        <p:spPr>
          <a:xfrm>
            <a:off x="10893247" y="2276856"/>
            <a:ext cx="628193" cy="21031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27">
            <a:extLst>
              <a:ext uri="{FF2B5EF4-FFF2-40B4-BE49-F238E27FC236}">
                <a16:creationId xmlns:a16="http://schemas.microsoft.com/office/drawing/2014/main" id="{C5F46398-09E7-5560-13F4-7701A72D4AEF}"/>
              </a:ext>
            </a:extLst>
          </p:cNvPr>
          <p:cNvSpPr/>
          <p:nvPr/>
        </p:nvSpPr>
        <p:spPr>
          <a:xfrm>
            <a:off x="10893247" y="2276856"/>
            <a:ext cx="62819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</a:t>
            </a:r>
            <a:endParaRPr lang="en-US" sz="750" dirty="0"/>
          </a:p>
        </p:txBody>
      </p:sp>
      <p:sp>
        <p:nvSpPr>
          <p:cNvPr id="73" name="Text 28">
            <a:extLst>
              <a:ext uri="{FF2B5EF4-FFF2-40B4-BE49-F238E27FC236}">
                <a16:creationId xmlns:a16="http://schemas.microsoft.com/office/drawing/2014/main" id="{7781E8C2-3FF3-2F93-25C4-348285ADAFD8}"/>
              </a:ext>
            </a:extLst>
          </p:cNvPr>
          <p:cNvSpPr/>
          <p:nvPr/>
        </p:nvSpPr>
        <p:spPr>
          <a:xfrm>
            <a:off x="4965192" y="245059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can thiệp — AI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CIC +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DTI + model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lãi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suất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=&gt;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</a:t>
            </a:r>
            <a:endParaRPr lang="en-US" sz="840" dirty="0"/>
          </a:p>
        </p:txBody>
      </p:sp>
      <p:sp>
        <p:nvSpPr>
          <p:cNvPr id="75" name="Shape 29">
            <a:extLst>
              <a:ext uri="{FF2B5EF4-FFF2-40B4-BE49-F238E27FC236}">
                <a16:creationId xmlns:a16="http://schemas.microsoft.com/office/drawing/2014/main" id="{0EA3315B-3D76-B8F3-A5C1-B39F271BFCC3}"/>
              </a:ext>
            </a:extLst>
          </p:cNvPr>
          <p:cNvSpPr/>
          <p:nvPr/>
        </p:nvSpPr>
        <p:spPr>
          <a:xfrm>
            <a:off x="4617720" y="3090672"/>
            <a:ext cx="0" cy="91440"/>
          </a:xfrm>
          <a:prstGeom prst="line">
            <a:avLst/>
          </a:prstGeom>
          <a:noFill/>
          <a:ln w="12700">
            <a:solidFill>
              <a:srgbClr val="D9D9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7A1E0341-C8E2-384D-5033-F005B2D9E7C8}"/>
              </a:ext>
            </a:extLst>
          </p:cNvPr>
          <p:cNvSpPr/>
          <p:nvPr/>
        </p:nvSpPr>
        <p:spPr>
          <a:xfrm>
            <a:off x="4434840" y="2724912"/>
            <a:ext cx="365760" cy="365760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9" name="Image 8" descr="preencoded.png">
            <a:extLst>
              <a:ext uri="{FF2B5EF4-FFF2-40B4-BE49-F238E27FC236}">
                <a16:creationId xmlns:a16="http://schemas.microsoft.com/office/drawing/2014/main" id="{4141C24F-5AFF-6878-9CF1-1A3E2D253A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3595" y="2823667"/>
            <a:ext cx="168250" cy="168250"/>
          </a:xfrm>
          <a:prstGeom prst="rect">
            <a:avLst/>
          </a:prstGeom>
        </p:spPr>
      </p:pic>
      <p:sp>
        <p:nvSpPr>
          <p:cNvPr id="81" name="Text 31">
            <a:extLst>
              <a:ext uri="{FF2B5EF4-FFF2-40B4-BE49-F238E27FC236}">
                <a16:creationId xmlns:a16="http://schemas.microsoft.com/office/drawing/2014/main" id="{6F2405DA-1864-F9D6-6303-BEEA39F04F19}"/>
              </a:ext>
            </a:extLst>
          </p:cNvPr>
          <p:cNvSpPr/>
          <p:nvPr/>
        </p:nvSpPr>
        <p:spPr>
          <a:xfrm>
            <a:off x="4965192" y="26974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Thẩm định (Agent review)</a:t>
            </a:r>
            <a:endParaRPr lang="en-US" sz="970" dirty="0"/>
          </a:p>
        </p:txBody>
      </p:sp>
      <p:sp>
        <p:nvSpPr>
          <p:cNvPr id="83" name="Shape 32">
            <a:extLst>
              <a:ext uri="{FF2B5EF4-FFF2-40B4-BE49-F238E27FC236}">
                <a16:creationId xmlns:a16="http://schemas.microsoft.com/office/drawing/2014/main" id="{A1782FB4-5C6C-D55D-9458-742E2D070F67}"/>
              </a:ext>
            </a:extLst>
          </p:cNvPr>
          <p:cNvSpPr/>
          <p:nvPr/>
        </p:nvSpPr>
        <p:spPr>
          <a:xfrm>
            <a:off x="10893247" y="2734056"/>
            <a:ext cx="628193" cy="21031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33">
            <a:extLst>
              <a:ext uri="{FF2B5EF4-FFF2-40B4-BE49-F238E27FC236}">
                <a16:creationId xmlns:a16="http://schemas.microsoft.com/office/drawing/2014/main" id="{4B2A50C0-3E2D-5699-701C-E6CE8144C783}"/>
              </a:ext>
            </a:extLst>
          </p:cNvPr>
          <p:cNvSpPr/>
          <p:nvPr/>
        </p:nvSpPr>
        <p:spPr>
          <a:xfrm>
            <a:off x="10893247" y="2734056"/>
            <a:ext cx="62819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</a:t>
            </a:r>
            <a:endParaRPr lang="en-US" sz="750" dirty="0"/>
          </a:p>
        </p:txBody>
      </p:sp>
      <p:sp>
        <p:nvSpPr>
          <p:cNvPr id="87" name="Text 34">
            <a:extLst>
              <a:ext uri="{FF2B5EF4-FFF2-40B4-BE49-F238E27FC236}">
                <a16:creationId xmlns:a16="http://schemas.microsoft.com/office/drawing/2014/main" id="{6B085A55-1763-F263-1E19-12C4A9A17350}"/>
              </a:ext>
            </a:extLst>
          </p:cNvPr>
          <p:cNvSpPr/>
          <p:nvPr/>
        </p:nvSpPr>
        <p:spPr>
          <a:xfrm>
            <a:off x="4965192" y="290779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 =&gt;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endParaRPr lang="en-US" sz="840" dirty="0"/>
          </a:p>
        </p:txBody>
      </p:sp>
      <p:sp>
        <p:nvSpPr>
          <p:cNvPr id="89" name="Shape 36">
            <a:extLst>
              <a:ext uri="{FF2B5EF4-FFF2-40B4-BE49-F238E27FC236}">
                <a16:creationId xmlns:a16="http://schemas.microsoft.com/office/drawing/2014/main" id="{8BD00D00-34D2-40BC-F425-048D9601CB9F}"/>
              </a:ext>
            </a:extLst>
          </p:cNvPr>
          <p:cNvSpPr/>
          <p:nvPr/>
        </p:nvSpPr>
        <p:spPr>
          <a:xfrm>
            <a:off x="4617720" y="3547872"/>
            <a:ext cx="0" cy="91440"/>
          </a:xfrm>
          <a:prstGeom prst="line">
            <a:avLst/>
          </a:prstGeom>
          <a:noFill/>
          <a:ln w="12700">
            <a:solidFill>
              <a:srgbClr val="D9D9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37">
            <a:extLst>
              <a:ext uri="{FF2B5EF4-FFF2-40B4-BE49-F238E27FC236}">
                <a16:creationId xmlns:a16="http://schemas.microsoft.com/office/drawing/2014/main" id="{5B888873-36D4-D102-451F-731A2DE947D4}"/>
              </a:ext>
            </a:extLst>
          </p:cNvPr>
          <p:cNvSpPr/>
          <p:nvPr/>
        </p:nvSpPr>
        <p:spPr>
          <a:xfrm>
            <a:off x="4434840" y="318211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93" name="Image 9" descr="preencoded.png">
            <a:extLst>
              <a:ext uri="{FF2B5EF4-FFF2-40B4-BE49-F238E27FC236}">
                <a16:creationId xmlns:a16="http://schemas.microsoft.com/office/drawing/2014/main" id="{78E17441-EA4B-E798-FEA4-9D13611736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3595" y="3280867"/>
            <a:ext cx="168250" cy="168250"/>
          </a:xfrm>
          <a:prstGeom prst="rect">
            <a:avLst/>
          </a:prstGeom>
        </p:spPr>
      </p:pic>
      <p:sp>
        <p:nvSpPr>
          <p:cNvPr id="95" name="Text 38">
            <a:extLst>
              <a:ext uri="{FF2B5EF4-FFF2-40B4-BE49-F238E27FC236}">
                <a16:creationId xmlns:a16="http://schemas.microsoft.com/office/drawing/2014/main" id="{21D9A444-79C2-AEC1-6ED1-4F65BA8C9673}"/>
              </a:ext>
            </a:extLst>
          </p:cNvPr>
          <p:cNvSpPr/>
          <p:nvPr/>
        </p:nvSpPr>
        <p:spPr>
          <a:xfrm>
            <a:off x="4965192" y="31546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Phê duyệt (Approval)</a:t>
            </a:r>
            <a:endParaRPr lang="en-US" sz="970" dirty="0"/>
          </a:p>
        </p:txBody>
      </p:sp>
      <p:sp>
        <p:nvSpPr>
          <p:cNvPr id="97" name="Text 40">
            <a:extLst>
              <a:ext uri="{FF2B5EF4-FFF2-40B4-BE49-F238E27FC236}">
                <a16:creationId xmlns:a16="http://schemas.microsoft.com/office/drawing/2014/main" id="{ED2E3376-D5D1-54F0-03D3-FA133D792889}"/>
              </a:ext>
            </a:extLst>
          </p:cNvPr>
          <p:cNvSpPr/>
          <p:nvPr/>
        </p:nvSpPr>
        <p:spPr>
          <a:xfrm>
            <a:off x="10908932" y="3191256"/>
            <a:ext cx="5724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</a:t>
            </a:r>
            <a:endParaRPr lang="en-US" sz="750" dirty="0"/>
          </a:p>
        </p:txBody>
      </p:sp>
      <p:sp>
        <p:nvSpPr>
          <p:cNvPr id="99" name="Text 41">
            <a:extLst>
              <a:ext uri="{FF2B5EF4-FFF2-40B4-BE49-F238E27FC236}">
                <a16:creationId xmlns:a16="http://schemas.microsoft.com/office/drawing/2014/main" id="{D0D6E8E2-92A0-7D25-3926-5A9A9CC91A3E}"/>
              </a:ext>
            </a:extLst>
          </p:cNvPr>
          <p:cNvSpPr/>
          <p:nvPr/>
        </p:nvSpPr>
        <p:spPr>
          <a:xfrm>
            <a:off x="4965192" y="336499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phận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quyền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Kèm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sẽ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</a:t>
            </a: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endParaRPr lang="en-US" sz="840" dirty="0"/>
          </a:p>
        </p:txBody>
      </p:sp>
      <p:sp>
        <p:nvSpPr>
          <p:cNvPr id="101" name="Shape 42">
            <a:extLst>
              <a:ext uri="{FF2B5EF4-FFF2-40B4-BE49-F238E27FC236}">
                <a16:creationId xmlns:a16="http://schemas.microsoft.com/office/drawing/2014/main" id="{79F9D265-3BD2-CABC-2465-AC5552C18DF3}"/>
              </a:ext>
            </a:extLst>
          </p:cNvPr>
          <p:cNvSpPr/>
          <p:nvPr/>
        </p:nvSpPr>
        <p:spPr>
          <a:xfrm>
            <a:off x="4617720" y="4005072"/>
            <a:ext cx="0" cy="91440"/>
          </a:xfrm>
          <a:prstGeom prst="line">
            <a:avLst/>
          </a:prstGeom>
          <a:noFill/>
          <a:ln w="12700">
            <a:solidFill>
              <a:srgbClr val="D9D9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43">
            <a:extLst>
              <a:ext uri="{FF2B5EF4-FFF2-40B4-BE49-F238E27FC236}">
                <a16:creationId xmlns:a16="http://schemas.microsoft.com/office/drawing/2014/main" id="{03A52BCA-2773-88E3-7F5F-F9C0B571B16B}"/>
              </a:ext>
            </a:extLst>
          </p:cNvPr>
          <p:cNvSpPr/>
          <p:nvPr/>
        </p:nvSpPr>
        <p:spPr>
          <a:xfrm>
            <a:off x="4434840" y="3639312"/>
            <a:ext cx="365760" cy="365760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5" name="Image 10" descr="preencoded.png">
            <a:extLst>
              <a:ext uri="{FF2B5EF4-FFF2-40B4-BE49-F238E27FC236}">
                <a16:creationId xmlns:a16="http://schemas.microsoft.com/office/drawing/2014/main" id="{E75A6D33-2454-9936-74B4-DAAA358B0A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3595" y="3738067"/>
            <a:ext cx="168250" cy="168250"/>
          </a:xfrm>
          <a:prstGeom prst="rect">
            <a:avLst/>
          </a:prstGeom>
        </p:spPr>
      </p:pic>
      <p:sp>
        <p:nvSpPr>
          <p:cNvPr id="107" name="Text 44">
            <a:extLst>
              <a:ext uri="{FF2B5EF4-FFF2-40B4-BE49-F238E27FC236}">
                <a16:creationId xmlns:a16="http://schemas.microsoft.com/office/drawing/2014/main" id="{BB451792-4C6D-64AA-FBD9-8703B01DA306}"/>
              </a:ext>
            </a:extLst>
          </p:cNvPr>
          <p:cNvSpPr/>
          <p:nvPr/>
        </p:nvSpPr>
        <p:spPr>
          <a:xfrm>
            <a:off x="4965192" y="36118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Giải ngân (Disbursement)</a:t>
            </a:r>
            <a:endParaRPr lang="en-US" sz="970" dirty="0"/>
          </a:p>
        </p:txBody>
      </p:sp>
      <p:sp>
        <p:nvSpPr>
          <p:cNvPr id="109" name="Text 47">
            <a:extLst>
              <a:ext uri="{FF2B5EF4-FFF2-40B4-BE49-F238E27FC236}">
                <a16:creationId xmlns:a16="http://schemas.microsoft.com/office/drawing/2014/main" id="{D86D5884-A67A-83C1-139A-E4A4D7335B3E}"/>
              </a:ext>
            </a:extLst>
          </p:cNvPr>
          <p:cNvSpPr/>
          <p:nvPr/>
        </p:nvSpPr>
        <p:spPr>
          <a:xfrm>
            <a:off x="4965192" y="382219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xác nhận tay — khách ký e-sign → hệ thống giải ngân.</a:t>
            </a:r>
            <a:endParaRPr lang="en-US" sz="840" dirty="0"/>
          </a:p>
        </p:txBody>
      </p:sp>
      <p:sp>
        <p:nvSpPr>
          <p:cNvPr id="111" name="Shape 48">
            <a:extLst>
              <a:ext uri="{FF2B5EF4-FFF2-40B4-BE49-F238E27FC236}">
                <a16:creationId xmlns:a16="http://schemas.microsoft.com/office/drawing/2014/main" id="{B275717B-A6F8-AD1B-5BE5-744392DC2B54}"/>
              </a:ext>
            </a:extLst>
          </p:cNvPr>
          <p:cNvSpPr/>
          <p:nvPr/>
        </p:nvSpPr>
        <p:spPr>
          <a:xfrm>
            <a:off x="4434840" y="4096512"/>
            <a:ext cx="365760" cy="365760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3" name="Image 11" descr="preencoded.png">
            <a:extLst>
              <a:ext uri="{FF2B5EF4-FFF2-40B4-BE49-F238E27FC236}">
                <a16:creationId xmlns:a16="http://schemas.microsoft.com/office/drawing/2014/main" id="{98B17228-0AF3-58BF-0419-029BBB349F4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33595" y="4195267"/>
            <a:ext cx="168250" cy="168250"/>
          </a:xfrm>
          <a:prstGeom prst="rect">
            <a:avLst/>
          </a:prstGeom>
        </p:spPr>
      </p:pic>
      <p:sp>
        <p:nvSpPr>
          <p:cNvPr id="115" name="Text 49">
            <a:extLst>
              <a:ext uri="{FF2B5EF4-FFF2-40B4-BE49-F238E27FC236}">
                <a16:creationId xmlns:a16="http://schemas.microsoft.com/office/drawing/2014/main" id="{31BD30DD-C12E-5519-BEEB-64292E820BF6}"/>
              </a:ext>
            </a:extLst>
          </p:cNvPr>
          <p:cNvSpPr/>
          <p:nvPr/>
        </p:nvSpPr>
        <p:spPr>
          <a:xfrm>
            <a:off x="4965192" y="40690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Kiểm tra vốn (Monitoring)</a:t>
            </a:r>
            <a:endParaRPr lang="en-US" sz="970" dirty="0"/>
          </a:p>
        </p:txBody>
      </p:sp>
      <p:sp>
        <p:nvSpPr>
          <p:cNvPr id="117" name="Shape 50">
            <a:extLst>
              <a:ext uri="{FF2B5EF4-FFF2-40B4-BE49-F238E27FC236}">
                <a16:creationId xmlns:a16="http://schemas.microsoft.com/office/drawing/2014/main" id="{BBA521E4-6004-3780-BA74-CB61EE2D6EC2}"/>
              </a:ext>
            </a:extLst>
          </p:cNvPr>
          <p:cNvSpPr/>
          <p:nvPr/>
        </p:nvSpPr>
        <p:spPr>
          <a:xfrm>
            <a:off x="10893247" y="4105656"/>
            <a:ext cx="628193" cy="21031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51">
            <a:extLst>
              <a:ext uri="{FF2B5EF4-FFF2-40B4-BE49-F238E27FC236}">
                <a16:creationId xmlns:a16="http://schemas.microsoft.com/office/drawing/2014/main" id="{345943CA-501B-9F0B-0A5F-521B4961B3A1}"/>
              </a:ext>
            </a:extLst>
          </p:cNvPr>
          <p:cNvSpPr/>
          <p:nvPr/>
        </p:nvSpPr>
        <p:spPr>
          <a:xfrm>
            <a:off x="10893247" y="4105656"/>
            <a:ext cx="62819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</a:t>
            </a:r>
            <a:endParaRPr lang="en-US" sz="750" dirty="0"/>
          </a:p>
        </p:txBody>
      </p:sp>
      <p:sp>
        <p:nvSpPr>
          <p:cNvPr id="121" name="Text 52">
            <a:extLst>
              <a:ext uri="{FF2B5EF4-FFF2-40B4-BE49-F238E27FC236}">
                <a16:creationId xmlns:a16="http://schemas.microsoft.com/office/drawing/2014/main" id="{3FC1519E-C142-09BF-656C-9B8F09394371}"/>
              </a:ext>
            </a:extLst>
          </p:cNvPr>
          <p:cNvSpPr/>
          <p:nvPr/>
        </p:nvSpPr>
        <p:spPr>
          <a:xfrm>
            <a:off x="4965192" y="427939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cảnh báo tự động — chỉ xử lý khi có bất thường.</a:t>
            </a:r>
            <a:endParaRPr lang="en-US" sz="840" dirty="0"/>
          </a:p>
        </p:txBody>
      </p:sp>
      <p:sp>
        <p:nvSpPr>
          <p:cNvPr id="123" name="Shape 53">
            <a:extLst>
              <a:ext uri="{FF2B5EF4-FFF2-40B4-BE49-F238E27FC236}">
                <a16:creationId xmlns:a16="http://schemas.microsoft.com/office/drawing/2014/main" id="{4202014D-3CBE-3D45-4E3C-39B43A90C428}"/>
              </a:ext>
            </a:extLst>
          </p:cNvPr>
          <p:cNvSpPr/>
          <p:nvPr/>
        </p:nvSpPr>
        <p:spPr>
          <a:xfrm>
            <a:off x="4389120" y="4573829"/>
            <a:ext cx="7132320" cy="1211996"/>
          </a:xfrm>
          <a:prstGeom prst="roundRect">
            <a:avLst>
              <a:gd name="adj" fmla="val 8824"/>
            </a:avLst>
          </a:prstGeom>
          <a:solidFill>
            <a:srgbClr val="FBEFE7"/>
          </a:solidFill>
          <a:ln w="12700">
            <a:solidFill>
              <a:srgbClr val="F3D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54">
            <a:extLst>
              <a:ext uri="{FF2B5EF4-FFF2-40B4-BE49-F238E27FC236}">
                <a16:creationId xmlns:a16="http://schemas.microsoft.com/office/drawing/2014/main" id="{B0299922-E953-1608-5707-AF1AE54B0AAD}"/>
              </a:ext>
            </a:extLst>
          </p:cNvPr>
          <p:cNvSpPr/>
          <p:nvPr/>
        </p:nvSpPr>
        <p:spPr>
          <a:xfrm>
            <a:off x="4590288" y="4814625"/>
            <a:ext cx="6729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BỎ QUA ĐƯỢC BƯỚC REVIEW TỪ PHÍA CON NGƯỜI? – </a:t>
            </a:r>
            <a:r>
              <a:rPr lang="en-US" sz="950" b="1" kern="0" spc="40" dirty="0" err="1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</a:t>
            </a:r>
            <a:r>
              <a:rPr lang="en-US" sz="950" b="1" kern="0" spc="4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kern="0" spc="40" dirty="0" err="1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</a:t>
            </a:r>
            <a:r>
              <a:rPr lang="en-US" sz="950" b="1" kern="0" spc="4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kern="0" spc="40" dirty="0" err="1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</a:t>
            </a:r>
            <a:r>
              <a:rPr lang="en-US" sz="950" b="1" kern="0" spc="4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kern="0" spc="40" dirty="0" err="1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</a:t>
            </a:r>
            <a:r>
              <a:rPr lang="en-US" sz="950" b="1" kern="0" spc="4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kern="0" spc="40" dirty="0" err="1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950" b="1" kern="0" spc="4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kern="0" spc="40" dirty="0" err="1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950" b="1" kern="0" spc="4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 up</a:t>
            </a:r>
            <a:endParaRPr lang="en-US" sz="950" dirty="0"/>
          </a:p>
        </p:txBody>
      </p:sp>
      <p:sp>
        <p:nvSpPr>
          <p:cNvPr id="127" name="Text 55">
            <a:extLst>
              <a:ext uri="{FF2B5EF4-FFF2-40B4-BE49-F238E27FC236}">
                <a16:creationId xmlns:a16="http://schemas.microsoft.com/office/drawing/2014/main" id="{0416E43E-DA6A-F965-3D1F-6BCD7EFA4C4F}"/>
              </a:ext>
            </a:extLst>
          </p:cNvPr>
          <p:cNvSpPr/>
          <p:nvPr/>
        </p:nvSpPr>
        <p:spPr>
          <a:xfrm>
            <a:off x="4791456" y="5061513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Chân dung rủi ro thấp</a:t>
            </a:r>
            <a:endParaRPr lang="en-US" sz="870" dirty="0"/>
          </a:p>
        </p:txBody>
      </p:sp>
      <p:sp>
        <p:nvSpPr>
          <p:cNvPr id="129" name="Text 56">
            <a:extLst>
              <a:ext uri="{FF2B5EF4-FFF2-40B4-BE49-F238E27FC236}">
                <a16:creationId xmlns:a16="http://schemas.microsoft.com/office/drawing/2014/main" id="{DB71FC88-C7FB-153C-5500-1D1438230E67}"/>
              </a:ext>
            </a:extLst>
          </p:cNvPr>
          <p:cNvSpPr/>
          <p:nvPr/>
        </p:nvSpPr>
        <p:spPr>
          <a:xfrm>
            <a:off x="4791456" y="5244393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 nhóm 1 · DTI 28% · thu nhập verify tự động · sạch AML</a:t>
            </a:r>
            <a:endParaRPr lang="en-US" sz="790" dirty="0"/>
          </a:p>
        </p:txBody>
      </p:sp>
      <p:sp>
        <p:nvSpPr>
          <p:cNvPr id="131" name="Text 57">
            <a:extLst>
              <a:ext uri="{FF2B5EF4-FFF2-40B4-BE49-F238E27FC236}">
                <a16:creationId xmlns:a16="http://schemas.microsoft.com/office/drawing/2014/main" id="{28102573-2188-3642-38E0-BA4C4B692D23}"/>
              </a:ext>
            </a:extLst>
          </p:cNvPr>
          <p:cNvSpPr/>
          <p:nvPr/>
        </p:nvSpPr>
        <p:spPr>
          <a:xfrm>
            <a:off x="8247888" y="5077972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1D2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Gói vay đủ điều kiện</a:t>
            </a:r>
            <a:endParaRPr lang="en-US" sz="870" dirty="0"/>
          </a:p>
        </p:txBody>
      </p:sp>
      <p:sp>
        <p:nvSpPr>
          <p:cNvPr id="133" name="Text 58">
            <a:extLst>
              <a:ext uri="{FF2B5EF4-FFF2-40B4-BE49-F238E27FC236}">
                <a16:creationId xmlns:a16="http://schemas.microsoft.com/office/drawing/2014/main" id="{1E51534D-4E4A-790B-038A-9A9BF06A790D}"/>
              </a:ext>
            </a:extLst>
          </p:cNvPr>
          <p:cNvSpPr/>
          <p:nvPr/>
        </p:nvSpPr>
        <p:spPr>
          <a:xfrm>
            <a:off x="8247888" y="526085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 chấp pre-approved · trong hạn mức duyệt sẵn · số tiền nhỏ</a:t>
            </a:r>
            <a:endParaRPr lang="en-US" sz="790" dirty="0"/>
          </a:p>
        </p:txBody>
      </p:sp>
      <p:sp>
        <p:nvSpPr>
          <p:cNvPr id="135" name="Text 46">
            <a:extLst>
              <a:ext uri="{FF2B5EF4-FFF2-40B4-BE49-F238E27FC236}">
                <a16:creationId xmlns:a16="http://schemas.microsoft.com/office/drawing/2014/main" id="{AC448E63-A0ED-AFB5-EFBA-2D81CD97E52D}"/>
              </a:ext>
            </a:extLst>
          </p:cNvPr>
          <p:cNvSpPr/>
          <p:nvPr/>
        </p:nvSpPr>
        <p:spPr>
          <a:xfrm>
            <a:off x="10893247" y="3195828"/>
            <a:ext cx="62819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endParaRPr lang="en-US" sz="750" dirty="0"/>
          </a:p>
        </p:txBody>
      </p:sp>
      <p:sp>
        <p:nvSpPr>
          <p:cNvPr id="137" name="Shape 20">
            <a:extLst>
              <a:ext uri="{FF2B5EF4-FFF2-40B4-BE49-F238E27FC236}">
                <a16:creationId xmlns:a16="http://schemas.microsoft.com/office/drawing/2014/main" id="{BE399A07-A015-A3B2-0A63-937BCC01E9E3}"/>
              </a:ext>
            </a:extLst>
          </p:cNvPr>
          <p:cNvSpPr/>
          <p:nvPr/>
        </p:nvSpPr>
        <p:spPr>
          <a:xfrm>
            <a:off x="10725912" y="3189922"/>
            <a:ext cx="795528" cy="210312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Text 21">
            <a:extLst>
              <a:ext uri="{FF2B5EF4-FFF2-40B4-BE49-F238E27FC236}">
                <a16:creationId xmlns:a16="http://schemas.microsoft.com/office/drawing/2014/main" id="{E16231B5-91C5-10A4-CE1A-43F6AADA0B4C}"/>
              </a:ext>
            </a:extLst>
          </p:cNvPr>
          <p:cNvSpPr/>
          <p:nvPr/>
        </p:nvSpPr>
        <p:spPr>
          <a:xfrm>
            <a:off x="10725912" y="3189922"/>
            <a:ext cx="795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NGƯỜI</a:t>
            </a:r>
            <a:endParaRPr lang="en-US" sz="750" dirty="0"/>
          </a:p>
        </p:txBody>
      </p:sp>
      <p:sp>
        <p:nvSpPr>
          <p:cNvPr id="141" name="Shape 50">
            <a:extLst>
              <a:ext uri="{FF2B5EF4-FFF2-40B4-BE49-F238E27FC236}">
                <a16:creationId xmlns:a16="http://schemas.microsoft.com/office/drawing/2014/main" id="{BC161DF6-5282-A3F8-D703-D1B36F1C9478}"/>
              </a:ext>
            </a:extLst>
          </p:cNvPr>
          <p:cNvSpPr/>
          <p:nvPr/>
        </p:nvSpPr>
        <p:spPr>
          <a:xfrm>
            <a:off x="10853153" y="3653218"/>
            <a:ext cx="628193" cy="21031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Text 51">
            <a:extLst>
              <a:ext uri="{FF2B5EF4-FFF2-40B4-BE49-F238E27FC236}">
                <a16:creationId xmlns:a16="http://schemas.microsoft.com/office/drawing/2014/main" id="{AA64A6B1-CB0F-F132-B63B-EC4DEF329B31}"/>
              </a:ext>
            </a:extLst>
          </p:cNvPr>
          <p:cNvSpPr/>
          <p:nvPr/>
        </p:nvSpPr>
        <p:spPr>
          <a:xfrm>
            <a:off x="10853153" y="3653218"/>
            <a:ext cx="62819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</a:t>
            </a:r>
            <a:endParaRPr lang="en-US" sz="750" dirty="0"/>
          </a:p>
        </p:txBody>
      </p:sp>
      <p:sp>
        <p:nvSpPr>
          <p:cNvPr id="145" name="Shape 66">
            <a:extLst>
              <a:ext uri="{FF2B5EF4-FFF2-40B4-BE49-F238E27FC236}">
                <a16:creationId xmlns:a16="http://schemas.microsoft.com/office/drawing/2014/main" id="{23B454A4-1CA6-833E-2603-908490D3F184}"/>
              </a:ext>
            </a:extLst>
          </p:cNvPr>
          <p:cNvSpPr/>
          <p:nvPr/>
        </p:nvSpPr>
        <p:spPr>
          <a:xfrm>
            <a:off x="640080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7" name="Text 67">
            <a:extLst>
              <a:ext uri="{FF2B5EF4-FFF2-40B4-BE49-F238E27FC236}">
                <a16:creationId xmlns:a16="http://schemas.microsoft.com/office/drawing/2014/main" id="{9CBA79A9-2281-AA38-25B4-4F46C4C44DB5}"/>
              </a:ext>
            </a:extLst>
          </p:cNvPr>
          <p:cNvSpPr/>
          <p:nvPr/>
        </p:nvSpPr>
        <p:spPr>
          <a:xfrm>
            <a:off x="640080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</a:t>
            </a:r>
            <a:r>
              <a:rPr 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Bài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toán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9" name="Shape 68">
            <a:extLst>
              <a:ext uri="{FF2B5EF4-FFF2-40B4-BE49-F238E27FC236}">
                <a16:creationId xmlns:a16="http://schemas.microsoft.com/office/drawing/2014/main" id="{9148923D-B173-C1AA-D3AA-CB4CDCDA74BC}"/>
              </a:ext>
            </a:extLst>
          </p:cNvPr>
          <p:cNvSpPr/>
          <p:nvPr/>
        </p:nvSpPr>
        <p:spPr>
          <a:xfrm>
            <a:off x="2838298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Text 69">
            <a:extLst>
              <a:ext uri="{FF2B5EF4-FFF2-40B4-BE49-F238E27FC236}">
                <a16:creationId xmlns:a16="http://schemas.microsoft.com/office/drawing/2014/main" id="{0E84BB2E-4620-23CF-A86C-37B6C7D0E7A6}"/>
              </a:ext>
            </a:extLst>
          </p:cNvPr>
          <p:cNvSpPr/>
          <p:nvPr/>
        </p:nvSpPr>
        <p:spPr>
          <a:xfrm>
            <a:off x="2838298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</a:t>
            </a:r>
            <a:r>
              <a:rPr lang="en-US" sz="900" b="1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</a:t>
            </a:r>
            <a:r>
              <a:rPr lang="en-US" sz="900" b="1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900" b="1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pháp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153" name="Shape 70">
            <a:extLst>
              <a:ext uri="{FF2B5EF4-FFF2-40B4-BE49-F238E27FC236}">
                <a16:creationId xmlns:a16="http://schemas.microsoft.com/office/drawing/2014/main" id="{93958203-D8A5-2982-B951-FF835EB37B6F}"/>
              </a:ext>
            </a:extLst>
          </p:cNvPr>
          <p:cNvSpPr/>
          <p:nvPr/>
        </p:nvSpPr>
        <p:spPr>
          <a:xfrm>
            <a:off x="5036515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5" name="Text 71">
            <a:extLst>
              <a:ext uri="{FF2B5EF4-FFF2-40B4-BE49-F238E27FC236}">
                <a16:creationId xmlns:a16="http://schemas.microsoft.com/office/drawing/2014/main" id="{89EC062E-93CB-06B7-4D99-2A74ECA9ED15}"/>
              </a:ext>
            </a:extLst>
          </p:cNvPr>
          <p:cNvSpPr/>
          <p:nvPr/>
        </p:nvSpPr>
        <p:spPr>
          <a:xfrm>
            <a:off x="5036515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trị</a:t>
            </a:r>
            <a:endParaRPr lang="en-US" sz="900" dirty="0"/>
          </a:p>
        </p:txBody>
      </p:sp>
      <p:sp>
        <p:nvSpPr>
          <p:cNvPr id="157" name="Shape 72">
            <a:extLst>
              <a:ext uri="{FF2B5EF4-FFF2-40B4-BE49-F238E27FC236}">
                <a16:creationId xmlns:a16="http://schemas.microsoft.com/office/drawing/2014/main" id="{B014C7FB-A266-C471-59CA-FF23FE5E291B}"/>
              </a:ext>
            </a:extLst>
          </p:cNvPr>
          <p:cNvSpPr/>
          <p:nvPr/>
        </p:nvSpPr>
        <p:spPr>
          <a:xfrm>
            <a:off x="7234733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9" name="Text 73">
            <a:extLst>
              <a:ext uri="{FF2B5EF4-FFF2-40B4-BE49-F238E27FC236}">
                <a16:creationId xmlns:a16="http://schemas.microsoft.com/office/drawing/2014/main" id="{88F7716A-4C53-270C-7F2D-F160B8184F57}"/>
              </a:ext>
            </a:extLst>
          </p:cNvPr>
          <p:cNvSpPr/>
          <p:nvPr/>
        </p:nvSpPr>
        <p:spPr>
          <a:xfrm>
            <a:off x="7234733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Lộ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trình</a:t>
            </a:r>
            <a:endParaRPr lang="en-US" sz="900" dirty="0"/>
          </a:p>
        </p:txBody>
      </p:sp>
      <p:sp>
        <p:nvSpPr>
          <p:cNvPr id="161" name="Shape 74">
            <a:extLst>
              <a:ext uri="{FF2B5EF4-FFF2-40B4-BE49-F238E27FC236}">
                <a16:creationId xmlns:a16="http://schemas.microsoft.com/office/drawing/2014/main" id="{0C4694A0-C5D5-4244-A680-CDF1A7CBD905}"/>
              </a:ext>
            </a:extLst>
          </p:cNvPr>
          <p:cNvSpPr/>
          <p:nvPr/>
        </p:nvSpPr>
        <p:spPr>
          <a:xfrm>
            <a:off x="9432950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Text 75">
            <a:extLst>
              <a:ext uri="{FF2B5EF4-FFF2-40B4-BE49-F238E27FC236}">
                <a16:creationId xmlns:a16="http://schemas.microsoft.com/office/drawing/2014/main" id="{DE8319A1-7A04-2744-78BF-D3297A89CB2E}"/>
              </a:ext>
            </a:extLst>
          </p:cNvPr>
          <p:cNvSpPr/>
          <p:nvPr/>
        </p:nvSpPr>
        <p:spPr>
          <a:xfrm>
            <a:off x="9432950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hình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kinh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doanh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3390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C6D6C0D9-DA94-D1D5-CDE0-A05A1192F9B4}"/>
              </a:ext>
            </a:extLst>
          </p:cNvPr>
          <p:cNvSpPr/>
          <p:nvPr/>
        </p:nvSpPr>
        <p:spPr>
          <a:xfrm>
            <a:off x="640080" y="329184"/>
            <a:ext cx="1367942" cy="292608"/>
          </a:xfrm>
          <a:prstGeom prst="roundRect">
            <a:avLst>
              <a:gd name="adj" fmla="val 43750"/>
            </a:avLst>
          </a:prstGeom>
          <a:solidFill>
            <a:srgbClr val="1D2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F5350A9-0660-4C48-2972-65BE86D93B06}"/>
              </a:ext>
            </a:extLst>
          </p:cNvPr>
          <p:cNvSpPr/>
          <p:nvPr/>
        </p:nvSpPr>
        <p:spPr>
          <a:xfrm>
            <a:off x="640080" y="329184"/>
            <a:ext cx="13679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PHẦN 3 · GIÁ TRỊ</a:t>
            </a:r>
            <a:endParaRPr lang="en-US" sz="8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660812D-E8C2-9C54-59B7-5F0C964C6491}"/>
              </a:ext>
            </a:extLst>
          </p:cNvPr>
          <p:cNvSpPr/>
          <p:nvPr/>
        </p:nvSpPr>
        <p:spPr>
          <a:xfrm>
            <a:off x="640080" y="69494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GIÁ TRỊ MANG LẠI</a:t>
            </a:r>
            <a:endParaRPr lang="en-US" sz="10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3514DCA5-3FBE-CA4C-1C87-24EE3E987C0D}"/>
              </a:ext>
            </a:extLst>
          </p:cNvPr>
          <p:cNvSpPr/>
          <p:nvPr/>
        </p:nvSpPr>
        <p:spPr>
          <a:xfrm>
            <a:off x="640080" y="93268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Giải phóng đội ngũ vận hành · Trải nghiệm khách hàng tốt hơn</a:t>
            </a:r>
            <a:endParaRPr lang="en-US" sz="19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0E3B62A9-25B4-A7A5-1E86-1C65D09B9EDA}"/>
              </a:ext>
            </a:extLst>
          </p:cNvPr>
          <p:cNvSpPr/>
          <p:nvPr/>
        </p:nvSpPr>
        <p:spPr>
          <a:xfrm>
            <a:off x="640080" y="1371600"/>
            <a:ext cx="10881360" cy="13716"/>
          </a:xfrm>
          <a:prstGeom prst="rect">
            <a:avLst/>
          </a:prstGeom>
          <a:solidFill>
            <a:srgbClr val="FD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1DC70739-6396-5AE7-71E3-929715279533}"/>
              </a:ext>
            </a:extLst>
          </p:cNvPr>
          <p:cNvSpPr/>
          <p:nvPr/>
        </p:nvSpPr>
        <p:spPr>
          <a:xfrm>
            <a:off x="640080" y="1481328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1D2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5B007114-B9A4-EF2C-0C91-EFA5EBE5D3E3}"/>
              </a:ext>
            </a:extLst>
          </p:cNvPr>
          <p:cNvSpPr/>
          <p:nvPr/>
        </p:nvSpPr>
        <p:spPr>
          <a:xfrm>
            <a:off x="64008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 chức vận hành</a:t>
            </a:r>
            <a:endParaRPr lang="en-US" sz="85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7F05296C-6FB1-35CD-A7DD-5C7AE5460DEE}"/>
              </a:ext>
            </a:extLst>
          </p:cNvPr>
          <p:cNvSpPr/>
          <p:nvPr/>
        </p:nvSpPr>
        <p:spPr>
          <a:xfrm>
            <a:off x="640080" y="1810512"/>
            <a:ext cx="2523744" cy="2121408"/>
          </a:xfrm>
          <a:prstGeom prst="roundRect">
            <a:avLst>
              <a:gd name="adj" fmla="val 3448"/>
            </a:avLst>
          </a:prstGeom>
          <a:solidFill>
            <a:srgbClr val="FEF9F6"/>
          </a:solidFill>
          <a:ln w="12700">
            <a:solidFill>
              <a:srgbClr val="FDF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19C3139-15C8-93B1-D15B-24F816A3E6DC}"/>
              </a:ext>
            </a:extLst>
          </p:cNvPr>
          <p:cNvSpPr/>
          <p:nvPr/>
        </p:nvSpPr>
        <p:spPr>
          <a:xfrm>
            <a:off x="731520" y="1956816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42BA9E6D-4DA1-869F-44FC-E5261239B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35" y="2078431"/>
            <a:ext cx="268834" cy="268834"/>
          </a:xfrm>
          <a:prstGeom prst="rect">
            <a:avLst/>
          </a:prstGeom>
        </p:spPr>
      </p:pic>
      <p:sp>
        <p:nvSpPr>
          <p:cNvPr id="23" name="Text 20">
            <a:extLst>
              <a:ext uri="{FF2B5EF4-FFF2-40B4-BE49-F238E27FC236}">
                <a16:creationId xmlns:a16="http://schemas.microsoft.com/office/drawing/2014/main" id="{3E635DFD-EFFF-5E6C-B9B7-DBE4E47E303B}"/>
              </a:ext>
            </a:extLst>
          </p:cNvPr>
          <p:cNvSpPr/>
          <p:nvPr/>
        </p:nvSpPr>
        <p:spPr>
          <a:xfrm>
            <a:off x="1389888" y="193852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Năng suất</a:t>
            </a:r>
            <a:endParaRPr lang="en-US" sz="11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F790D0FF-F672-E0CD-5313-FC0339846CBC}"/>
              </a:ext>
            </a:extLst>
          </p:cNvPr>
          <p:cNvSpPr/>
          <p:nvPr/>
        </p:nvSpPr>
        <p:spPr>
          <a:xfrm>
            <a:off x="731520" y="2505456"/>
            <a:ext cx="234086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Giảm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công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việc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thủ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công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lặp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lại</a:t>
            </a:r>
            <a:endParaRPr lang="en-US" sz="950" dirty="0">
              <a:solidFill>
                <a:srgbClr val="A88874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Hỗ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trợ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quyết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định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nhanh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hơn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chính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xác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hơn</a:t>
            </a:r>
            <a:endParaRPr lang="en-US" sz="950" dirty="0">
              <a:solidFill>
                <a:srgbClr val="A88874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171450" indent="-171450">
              <a:lnSpc>
                <a:spcPct val="130000"/>
              </a:lnSpc>
              <a:buFontTx/>
              <a:buChar char="-"/>
            </a:pP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Tối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ưu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thời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gian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vận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hành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tối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ưu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quy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trình</a:t>
            </a:r>
            <a:endParaRPr lang="en-US" sz="950" dirty="0">
              <a:solidFill>
                <a:srgbClr val="A88874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171450" indent="-171450">
              <a:lnSpc>
                <a:spcPct val="130000"/>
              </a:lnSpc>
              <a:buFontTx/>
              <a:buChar char="-"/>
            </a:pPr>
            <a:endParaRPr lang="en-US" sz="95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2B6CD78A-C47C-F08E-B961-0A3E28D221AA}"/>
              </a:ext>
            </a:extLst>
          </p:cNvPr>
          <p:cNvSpPr/>
          <p:nvPr/>
        </p:nvSpPr>
        <p:spPr>
          <a:xfrm>
            <a:off x="3383280" y="1810512"/>
            <a:ext cx="2523744" cy="2121408"/>
          </a:xfrm>
          <a:prstGeom prst="roundRect">
            <a:avLst>
              <a:gd name="adj" fmla="val 3448"/>
            </a:avLst>
          </a:prstGeom>
          <a:solidFill>
            <a:srgbClr val="FEF9F6"/>
          </a:solidFill>
          <a:ln w="12700">
            <a:solidFill>
              <a:srgbClr val="FDF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09067FA0-5C8C-C8EB-28D0-4F3B62F713A2}"/>
              </a:ext>
            </a:extLst>
          </p:cNvPr>
          <p:cNvSpPr/>
          <p:nvPr/>
        </p:nvSpPr>
        <p:spPr>
          <a:xfrm>
            <a:off x="3474720" y="1956816"/>
            <a:ext cx="512064" cy="512064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2922E693-9E40-34A9-F914-243D4851F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335" y="2078431"/>
            <a:ext cx="268834" cy="268834"/>
          </a:xfrm>
          <a:prstGeom prst="rect">
            <a:avLst/>
          </a:prstGeom>
        </p:spPr>
      </p:pic>
      <p:sp>
        <p:nvSpPr>
          <p:cNvPr id="33" name="Text 24">
            <a:extLst>
              <a:ext uri="{FF2B5EF4-FFF2-40B4-BE49-F238E27FC236}">
                <a16:creationId xmlns:a16="http://schemas.microsoft.com/office/drawing/2014/main" id="{F0E2FCC0-2A83-D93D-EF94-919B94807D72}"/>
              </a:ext>
            </a:extLst>
          </p:cNvPr>
          <p:cNvSpPr/>
          <p:nvPr/>
        </p:nvSpPr>
        <p:spPr>
          <a:xfrm>
            <a:off x="4133088" y="193852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Độ chính xác</a:t>
            </a:r>
            <a:endParaRPr lang="en-US" sz="1100" dirty="0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DAC4458D-4E4D-2035-1E82-37F0212BA443}"/>
              </a:ext>
            </a:extLst>
          </p:cNvPr>
          <p:cNvSpPr/>
          <p:nvPr/>
        </p:nvSpPr>
        <p:spPr>
          <a:xfrm>
            <a:off x="3474720" y="2505456"/>
            <a:ext cx="234086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DTI, lãi suất, hạn mức tính từ tool. Thông tin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được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lấy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trực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tiếp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không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phải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nhập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liệu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thủ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công</a:t>
            </a:r>
            <a:endParaRPr lang="en-US" sz="950" dirty="0"/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21263324-E2D8-9BA3-4754-9B219F53D658}"/>
              </a:ext>
            </a:extLst>
          </p:cNvPr>
          <p:cNvSpPr/>
          <p:nvPr/>
        </p:nvSpPr>
        <p:spPr>
          <a:xfrm>
            <a:off x="6126480" y="1805940"/>
            <a:ext cx="2523744" cy="2121408"/>
          </a:xfrm>
          <a:prstGeom prst="roundRect">
            <a:avLst>
              <a:gd name="adj" fmla="val 3448"/>
            </a:avLst>
          </a:prstGeom>
          <a:solidFill>
            <a:srgbClr val="FEF9F6"/>
          </a:solidFill>
          <a:ln w="12700">
            <a:solidFill>
              <a:srgbClr val="FDF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22768971-34F9-BBF5-1152-C328BB10E3DC}"/>
              </a:ext>
            </a:extLst>
          </p:cNvPr>
          <p:cNvSpPr/>
          <p:nvPr/>
        </p:nvSpPr>
        <p:spPr>
          <a:xfrm>
            <a:off x="6217920" y="1952244"/>
            <a:ext cx="512064" cy="512064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3" descr="preencoded.png">
            <a:extLst>
              <a:ext uri="{FF2B5EF4-FFF2-40B4-BE49-F238E27FC236}">
                <a16:creationId xmlns:a16="http://schemas.microsoft.com/office/drawing/2014/main" id="{41A441B0-D5E5-89B5-D37D-D6DB7C4EF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535" y="2073859"/>
            <a:ext cx="268834" cy="268834"/>
          </a:xfrm>
          <a:prstGeom prst="rect">
            <a:avLst/>
          </a:prstGeom>
        </p:spPr>
      </p:pic>
      <p:sp>
        <p:nvSpPr>
          <p:cNvPr id="43" name="Text 32">
            <a:extLst>
              <a:ext uri="{FF2B5EF4-FFF2-40B4-BE49-F238E27FC236}">
                <a16:creationId xmlns:a16="http://schemas.microsoft.com/office/drawing/2014/main" id="{52535054-92A8-7E68-98AD-EE5AF8CE29DB}"/>
              </a:ext>
            </a:extLst>
          </p:cNvPr>
          <p:cNvSpPr/>
          <p:nvPr/>
        </p:nvSpPr>
        <p:spPr>
          <a:xfrm>
            <a:off x="6876288" y="1933956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</a:t>
            </a:r>
            <a:r>
              <a:rPr lang="en-US" sz="110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toàn</a:t>
            </a:r>
            <a:r>
              <a:rPr lang="en-US" sz="11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10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bảo</a:t>
            </a:r>
            <a:r>
              <a:rPr lang="en-US" sz="11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10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mật</a:t>
            </a:r>
            <a:endParaRPr lang="en-US" sz="1100" dirty="0"/>
          </a:p>
        </p:txBody>
      </p:sp>
      <p:sp>
        <p:nvSpPr>
          <p:cNvPr id="45" name="Text 33">
            <a:extLst>
              <a:ext uri="{FF2B5EF4-FFF2-40B4-BE49-F238E27FC236}">
                <a16:creationId xmlns:a16="http://schemas.microsoft.com/office/drawing/2014/main" id="{A03D20FF-14B7-3A1A-DB91-1FCA2561F7A8}"/>
              </a:ext>
            </a:extLst>
          </p:cNvPr>
          <p:cNvSpPr/>
          <p:nvPr/>
        </p:nvSpPr>
        <p:spPr>
          <a:xfrm>
            <a:off x="6217920" y="2500884"/>
            <a:ext cx="234086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Agent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chỉ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có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vai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trò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hỗ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trợ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mọi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quyết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định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đều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người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dùng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thiết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lập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quyết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định</a:t>
            </a:r>
            <a:endParaRPr lang="en-US" sz="950" dirty="0">
              <a:solidFill>
                <a:srgbClr val="A88874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950" dirty="0">
              <a:solidFill>
                <a:srgbClr val="A88874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Mỗi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agent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được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thiết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lập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quyền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tương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ứng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với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vai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trò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của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người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vận</a:t>
            </a: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5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hành</a:t>
            </a:r>
            <a:endParaRPr lang="en-US" sz="950" dirty="0"/>
          </a:p>
        </p:txBody>
      </p:sp>
      <p:sp>
        <p:nvSpPr>
          <p:cNvPr id="47" name="Shape 34">
            <a:extLst>
              <a:ext uri="{FF2B5EF4-FFF2-40B4-BE49-F238E27FC236}">
                <a16:creationId xmlns:a16="http://schemas.microsoft.com/office/drawing/2014/main" id="{38BA74AD-22F2-D1B6-1FF5-6F74C2595E59}"/>
              </a:ext>
            </a:extLst>
          </p:cNvPr>
          <p:cNvSpPr/>
          <p:nvPr/>
        </p:nvSpPr>
        <p:spPr>
          <a:xfrm>
            <a:off x="640080" y="3986784"/>
            <a:ext cx="10881360" cy="13716"/>
          </a:xfrm>
          <a:prstGeom prst="rect">
            <a:avLst/>
          </a:prstGeom>
          <a:solidFill>
            <a:srgbClr val="FD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35">
            <a:extLst>
              <a:ext uri="{FF2B5EF4-FFF2-40B4-BE49-F238E27FC236}">
                <a16:creationId xmlns:a16="http://schemas.microsoft.com/office/drawing/2014/main" id="{C5AC0605-6F8A-6F35-6FDA-3135E92DD044}"/>
              </a:ext>
            </a:extLst>
          </p:cNvPr>
          <p:cNvSpPr/>
          <p:nvPr/>
        </p:nvSpPr>
        <p:spPr>
          <a:xfrm>
            <a:off x="640080" y="4059936"/>
            <a:ext cx="1554480" cy="274320"/>
          </a:xfrm>
          <a:prstGeom prst="roundRect">
            <a:avLst>
              <a:gd name="adj" fmla="val 46667"/>
            </a:avLst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36">
            <a:extLst>
              <a:ext uri="{FF2B5EF4-FFF2-40B4-BE49-F238E27FC236}">
                <a16:creationId xmlns:a16="http://schemas.microsoft.com/office/drawing/2014/main" id="{9856463C-8F72-90BF-6D81-378221F4ACA2}"/>
              </a:ext>
            </a:extLst>
          </p:cNvPr>
          <p:cNvSpPr/>
          <p:nvPr/>
        </p:nvSpPr>
        <p:spPr>
          <a:xfrm>
            <a:off x="640080" y="40599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Khách hàng vay</a:t>
            </a:r>
            <a:endParaRPr lang="en-US" sz="850" dirty="0"/>
          </a:p>
        </p:txBody>
      </p:sp>
      <p:sp>
        <p:nvSpPr>
          <p:cNvPr id="53" name="Shape 38">
            <a:extLst>
              <a:ext uri="{FF2B5EF4-FFF2-40B4-BE49-F238E27FC236}">
                <a16:creationId xmlns:a16="http://schemas.microsoft.com/office/drawing/2014/main" id="{3D51E6E3-689B-DBA1-C7D7-7DE2EA6A7207}"/>
              </a:ext>
            </a:extLst>
          </p:cNvPr>
          <p:cNvSpPr/>
          <p:nvPr/>
        </p:nvSpPr>
        <p:spPr>
          <a:xfrm>
            <a:off x="694944" y="4864608"/>
            <a:ext cx="438912" cy="438912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>
              <a:solidFill>
                <a:srgbClr val="002060"/>
              </a:solidFill>
            </a:endParaRPr>
          </a:p>
        </p:txBody>
      </p:sp>
      <p:pic>
        <p:nvPicPr>
          <p:cNvPr id="55" name="Image 4" descr="preencoded.png">
            <a:extLst>
              <a:ext uri="{FF2B5EF4-FFF2-40B4-BE49-F238E27FC236}">
                <a16:creationId xmlns:a16="http://schemas.microsoft.com/office/drawing/2014/main" id="{E9E5E2D0-72BE-BCF6-FE58-DF1808B3C6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6" y="4968850"/>
            <a:ext cx="230429" cy="230429"/>
          </a:xfrm>
          <a:prstGeom prst="rect">
            <a:avLst/>
          </a:prstGeom>
          <a:solidFill>
            <a:srgbClr val="002060"/>
          </a:solidFill>
        </p:spPr>
      </p:pic>
      <p:sp>
        <p:nvSpPr>
          <p:cNvPr id="57" name="Text 39">
            <a:extLst>
              <a:ext uri="{FF2B5EF4-FFF2-40B4-BE49-F238E27FC236}">
                <a16:creationId xmlns:a16="http://schemas.microsoft.com/office/drawing/2014/main" id="{8FC9DB2A-AB0D-50D0-F54F-0A908FF375AD}"/>
              </a:ext>
            </a:extLst>
          </p:cNvPr>
          <p:cNvSpPr/>
          <p:nvPr/>
        </p:nvSpPr>
        <p:spPr>
          <a:xfrm>
            <a:off x="1261872" y="44805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Nhanh hơn</a:t>
            </a:r>
            <a:endParaRPr lang="en-US" sz="1050" dirty="0"/>
          </a:p>
        </p:txBody>
      </p:sp>
      <p:sp>
        <p:nvSpPr>
          <p:cNvPr id="59" name="Text 40">
            <a:extLst>
              <a:ext uri="{FF2B5EF4-FFF2-40B4-BE49-F238E27FC236}">
                <a16:creationId xmlns:a16="http://schemas.microsoft.com/office/drawing/2014/main" id="{A736A404-C927-77AA-1069-3A8079B2AE96}"/>
              </a:ext>
            </a:extLst>
          </p:cNvPr>
          <p:cNvSpPr/>
          <p:nvPr/>
        </p:nvSpPr>
        <p:spPr>
          <a:xfrm>
            <a:off x="1261872" y="4773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Hệ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thống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tự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động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xử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lý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theo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quy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trình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đã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định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sẵn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với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các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rule engine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được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cấu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hình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tương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ứng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với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nhu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cầu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=&gt;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Đem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lại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trải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nghiệm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tốt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hơn</a:t>
            </a:r>
            <a:endParaRPr lang="en-US" sz="900" dirty="0"/>
          </a:p>
        </p:txBody>
      </p:sp>
      <p:sp>
        <p:nvSpPr>
          <p:cNvPr id="61" name="Shape 30">
            <a:extLst>
              <a:ext uri="{FF2B5EF4-FFF2-40B4-BE49-F238E27FC236}">
                <a16:creationId xmlns:a16="http://schemas.microsoft.com/office/drawing/2014/main" id="{5461E556-4992-DF7E-922B-F9569A8D3508}"/>
              </a:ext>
            </a:extLst>
          </p:cNvPr>
          <p:cNvSpPr/>
          <p:nvPr/>
        </p:nvSpPr>
        <p:spPr>
          <a:xfrm>
            <a:off x="8869680" y="1792640"/>
            <a:ext cx="2523744" cy="2121408"/>
          </a:xfrm>
          <a:prstGeom prst="roundRect">
            <a:avLst>
              <a:gd name="adj" fmla="val 3448"/>
            </a:avLst>
          </a:prstGeom>
          <a:solidFill>
            <a:srgbClr val="FEF9F6"/>
          </a:solidFill>
          <a:ln w="12700">
            <a:solidFill>
              <a:srgbClr val="FDF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31">
            <a:extLst>
              <a:ext uri="{FF2B5EF4-FFF2-40B4-BE49-F238E27FC236}">
                <a16:creationId xmlns:a16="http://schemas.microsoft.com/office/drawing/2014/main" id="{4699DD73-BF50-86DB-1CE0-F928D851126A}"/>
              </a:ext>
            </a:extLst>
          </p:cNvPr>
          <p:cNvSpPr/>
          <p:nvPr/>
        </p:nvSpPr>
        <p:spPr>
          <a:xfrm>
            <a:off x="8961120" y="1938944"/>
            <a:ext cx="512064" cy="512064"/>
          </a:xfrm>
          <a:prstGeom prst="ellipse">
            <a:avLst/>
          </a:prstGeom>
          <a:solidFill>
            <a:srgbClr val="F370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0F6C9393-A12B-5447-2762-AFC7C4D72368}"/>
              </a:ext>
            </a:extLst>
          </p:cNvPr>
          <p:cNvSpPr/>
          <p:nvPr/>
        </p:nvSpPr>
        <p:spPr>
          <a:xfrm>
            <a:off x="9619487" y="1920656"/>
            <a:ext cx="1719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Chuyển</a:t>
            </a:r>
            <a:r>
              <a:rPr lang="en-US" sz="11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10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đổi</a:t>
            </a:r>
            <a:r>
              <a:rPr lang="en-US" sz="11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10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số</a:t>
            </a:r>
            <a:r>
              <a:rPr lang="en-US" sz="11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10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toàn</a:t>
            </a:r>
            <a:r>
              <a:rPr lang="en-US" sz="110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10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diện</a:t>
            </a:r>
            <a:endParaRPr lang="en-US" sz="1100" dirty="0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BB7713F3-721D-D708-604D-7797A84D5389}"/>
              </a:ext>
            </a:extLst>
          </p:cNvPr>
          <p:cNvSpPr/>
          <p:nvPr/>
        </p:nvSpPr>
        <p:spPr>
          <a:xfrm>
            <a:off x="8961120" y="2487584"/>
            <a:ext cx="234086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Người có thẩm quyền vẫn ký cuối. Tác tử chỉ chuẩn bị &amp; đề xuất — trách nhiệm pháp lý không đổi</a:t>
            </a:r>
            <a:endParaRPr lang="en-US" sz="950" dirty="0"/>
          </a:p>
        </p:txBody>
      </p:sp>
      <p:pic>
        <p:nvPicPr>
          <p:cNvPr id="69" name="Image 1" descr="preencoded.png">
            <a:extLst>
              <a:ext uri="{FF2B5EF4-FFF2-40B4-BE49-F238E27FC236}">
                <a16:creationId xmlns:a16="http://schemas.microsoft.com/office/drawing/2014/main" id="{4CA02A90-F913-58D7-1729-1A5EBF456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185" y="2044487"/>
            <a:ext cx="268834" cy="268834"/>
          </a:xfrm>
          <a:prstGeom prst="rect">
            <a:avLst/>
          </a:prstGeom>
        </p:spPr>
      </p:pic>
      <p:sp>
        <p:nvSpPr>
          <p:cNvPr id="71" name="Shape 37">
            <a:extLst>
              <a:ext uri="{FF2B5EF4-FFF2-40B4-BE49-F238E27FC236}">
                <a16:creationId xmlns:a16="http://schemas.microsoft.com/office/drawing/2014/main" id="{C91AA4AA-7AC2-5801-7AFC-1159A6C74B23}"/>
              </a:ext>
            </a:extLst>
          </p:cNvPr>
          <p:cNvSpPr/>
          <p:nvPr/>
        </p:nvSpPr>
        <p:spPr>
          <a:xfrm>
            <a:off x="3383280" y="4367091"/>
            <a:ext cx="2523744" cy="1389888"/>
          </a:xfrm>
          <a:prstGeom prst="roundRect">
            <a:avLst>
              <a:gd name="adj" fmla="val 5263"/>
            </a:avLst>
          </a:prstGeom>
          <a:solidFill>
            <a:srgbClr val="FEF9F6"/>
          </a:solidFill>
          <a:ln w="12700">
            <a:solidFill>
              <a:srgbClr val="FDF0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3" name="Shape 38">
            <a:extLst>
              <a:ext uri="{FF2B5EF4-FFF2-40B4-BE49-F238E27FC236}">
                <a16:creationId xmlns:a16="http://schemas.microsoft.com/office/drawing/2014/main" id="{008F272F-9DDC-0B24-6121-9F3869EC9C44}"/>
              </a:ext>
            </a:extLst>
          </p:cNvPr>
          <p:cNvSpPr/>
          <p:nvPr/>
        </p:nvSpPr>
        <p:spPr>
          <a:xfrm>
            <a:off x="3438144" y="4842579"/>
            <a:ext cx="438912" cy="438912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39">
            <a:extLst>
              <a:ext uri="{FF2B5EF4-FFF2-40B4-BE49-F238E27FC236}">
                <a16:creationId xmlns:a16="http://schemas.microsoft.com/office/drawing/2014/main" id="{30E5B3F9-7B4E-7FA5-6410-130F5071D579}"/>
              </a:ext>
            </a:extLst>
          </p:cNvPr>
          <p:cNvSpPr/>
          <p:nvPr/>
        </p:nvSpPr>
        <p:spPr>
          <a:xfrm>
            <a:off x="4005072" y="4458531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</a:t>
            </a:r>
            <a:r>
              <a:rPr lang="en-US" sz="105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toàn</a:t>
            </a:r>
            <a:r>
              <a:rPr lang="en-US" sz="105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05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bảo</a:t>
            </a:r>
            <a:r>
              <a:rPr lang="en-US" sz="1050" b="1" dirty="0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50" b="1" dirty="0" err="1">
                <a:solidFill>
                  <a:srgbClr val="1B1E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mật</a:t>
            </a:r>
            <a:endParaRPr lang="en-US" sz="1050" dirty="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9FC985F-568A-C61D-FE01-F7F63FB44A75}"/>
              </a:ext>
            </a:extLst>
          </p:cNvPr>
          <p:cNvSpPr/>
          <p:nvPr/>
        </p:nvSpPr>
        <p:spPr>
          <a:xfrm>
            <a:off x="4005072" y="4751139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được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bảo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mật</a:t>
            </a:r>
            <a:endParaRPr lang="en-US" sz="900" dirty="0">
              <a:solidFill>
                <a:srgbClr val="A88874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trail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đầy</a:t>
            </a:r>
            <a:r>
              <a:rPr lang="en-US" sz="900" dirty="0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00" dirty="0" err="1">
                <a:solidFill>
                  <a:srgbClr val="A8887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đủ</a:t>
            </a:r>
            <a:endParaRPr lang="en-US" sz="900" dirty="0">
              <a:solidFill>
                <a:srgbClr val="A88874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</p:txBody>
      </p:sp>
      <p:pic>
        <p:nvPicPr>
          <p:cNvPr id="79" name="Image 1" descr="preencoded.png">
            <a:extLst>
              <a:ext uri="{FF2B5EF4-FFF2-40B4-BE49-F238E27FC236}">
                <a16:creationId xmlns:a16="http://schemas.microsoft.com/office/drawing/2014/main" id="{44521324-C331-4F59-6548-8116DE90F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183" y="4935931"/>
            <a:ext cx="268834" cy="268834"/>
          </a:xfrm>
          <a:prstGeom prst="rect">
            <a:avLst/>
          </a:prstGeom>
        </p:spPr>
      </p:pic>
      <p:sp>
        <p:nvSpPr>
          <p:cNvPr id="81" name="Shape 66">
            <a:extLst>
              <a:ext uri="{FF2B5EF4-FFF2-40B4-BE49-F238E27FC236}">
                <a16:creationId xmlns:a16="http://schemas.microsoft.com/office/drawing/2014/main" id="{129FB32F-5C3D-A1BC-150C-C250E135AF3F}"/>
              </a:ext>
            </a:extLst>
          </p:cNvPr>
          <p:cNvSpPr/>
          <p:nvPr/>
        </p:nvSpPr>
        <p:spPr>
          <a:xfrm>
            <a:off x="640080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3" name="Text 67">
            <a:extLst>
              <a:ext uri="{FF2B5EF4-FFF2-40B4-BE49-F238E27FC236}">
                <a16:creationId xmlns:a16="http://schemas.microsoft.com/office/drawing/2014/main" id="{027BE22A-15F3-BC1D-6A3B-4E1C1B97CE51}"/>
              </a:ext>
            </a:extLst>
          </p:cNvPr>
          <p:cNvSpPr/>
          <p:nvPr/>
        </p:nvSpPr>
        <p:spPr>
          <a:xfrm>
            <a:off x="640080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</a:t>
            </a:r>
            <a:r>
              <a:rPr 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Bài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toán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5" name="Shape 68">
            <a:extLst>
              <a:ext uri="{FF2B5EF4-FFF2-40B4-BE49-F238E27FC236}">
                <a16:creationId xmlns:a16="http://schemas.microsoft.com/office/drawing/2014/main" id="{61860BFA-1C2E-8E15-61A7-6AA577F3E30B}"/>
              </a:ext>
            </a:extLst>
          </p:cNvPr>
          <p:cNvSpPr/>
          <p:nvPr/>
        </p:nvSpPr>
        <p:spPr>
          <a:xfrm>
            <a:off x="2838298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69">
            <a:extLst>
              <a:ext uri="{FF2B5EF4-FFF2-40B4-BE49-F238E27FC236}">
                <a16:creationId xmlns:a16="http://schemas.microsoft.com/office/drawing/2014/main" id="{FC2F4F0E-2BFE-5883-9BAD-C03EEB3E70B1}"/>
              </a:ext>
            </a:extLst>
          </p:cNvPr>
          <p:cNvSpPr/>
          <p:nvPr/>
        </p:nvSpPr>
        <p:spPr>
          <a:xfrm>
            <a:off x="2838298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</a:t>
            </a:r>
            <a:r>
              <a:rPr 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pháp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9" name="Shape 70">
            <a:extLst>
              <a:ext uri="{FF2B5EF4-FFF2-40B4-BE49-F238E27FC236}">
                <a16:creationId xmlns:a16="http://schemas.microsoft.com/office/drawing/2014/main" id="{8AAE7B22-B6AD-DB5D-2943-55A398796A63}"/>
              </a:ext>
            </a:extLst>
          </p:cNvPr>
          <p:cNvSpPr/>
          <p:nvPr/>
        </p:nvSpPr>
        <p:spPr>
          <a:xfrm>
            <a:off x="5036515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1" name="Text 71">
            <a:extLst>
              <a:ext uri="{FF2B5EF4-FFF2-40B4-BE49-F238E27FC236}">
                <a16:creationId xmlns:a16="http://schemas.microsoft.com/office/drawing/2014/main" id="{F0166AA7-9623-22ED-6707-7F5452BB0EBE}"/>
              </a:ext>
            </a:extLst>
          </p:cNvPr>
          <p:cNvSpPr/>
          <p:nvPr/>
        </p:nvSpPr>
        <p:spPr>
          <a:xfrm>
            <a:off x="5036515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</a:t>
            </a:r>
            <a:r>
              <a:rPr lang="en-US" sz="900" b="1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</a:t>
            </a:r>
            <a:r>
              <a:rPr lang="en-US" sz="9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b="1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trị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93" name="Shape 72">
            <a:extLst>
              <a:ext uri="{FF2B5EF4-FFF2-40B4-BE49-F238E27FC236}">
                <a16:creationId xmlns:a16="http://schemas.microsoft.com/office/drawing/2014/main" id="{F14874FB-C672-1C64-C7C9-8DF0AEF57158}"/>
              </a:ext>
            </a:extLst>
          </p:cNvPr>
          <p:cNvSpPr/>
          <p:nvPr/>
        </p:nvSpPr>
        <p:spPr>
          <a:xfrm>
            <a:off x="7234733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5" name="Text 73">
            <a:extLst>
              <a:ext uri="{FF2B5EF4-FFF2-40B4-BE49-F238E27FC236}">
                <a16:creationId xmlns:a16="http://schemas.microsoft.com/office/drawing/2014/main" id="{4846BD8D-4661-EADF-F8DA-4B5A48ECDC2E}"/>
              </a:ext>
            </a:extLst>
          </p:cNvPr>
          <p:cNvSpPr/>
          <p:nvPr/>
        </p:nvSpPr>
        <p:spPr>
          <a:xfrm>
            <a:off x="7234733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Lộ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trình</a:t>
            </a:r>
            <a:endParaRPr lang="en-US" sz="900" dirty="0"/>
          </a:p>
        </p:txBody>
      </p:sp>
      <p:sp>
        <p:nvSpPr>
          <p:cNvPr id="97" name="Shape 74">
            <a:extLst>
              <a:ext uri="{FF2B5EF4-FFF2-40B4-BE49-F238E27FC236}">
                <a16:creationId xmlns:a16="http://schemas.microsoft.com/office/drawing/2014/main" id="{17F9DFC2-A0EC-6032-7786-020D24D58775}"/>
              </a:ext>
            </a:extLst>
          </p:cNvPr>
          <p:cNvSpPr/>
          <p:nvPr/>
        </p:nvSpPr>
        <p:spPr>
          <a:xfrm>
            <a:off x="9432950" y="6455664"/>
            <a:ext cx="2088490" cy="292608"/>
          </a:xfrm>
          <a:prstGeom prst="roundRect">
            <a:avLst>
              <a:gd name="adj" fmla="val 50000"/>
            </a:avLst>
          </a:prstGeom>
          <a:solidFill>
            <a:srgbClr val="F1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75">
            <a:extLst>
              <a:ext uri="{FF2B5EF4-FFF2-40B4-BE49-F238E27FC236}">
                <a16:creationId xmlns:a16="http://schemas.microsoft.com/office/drawing/2014/main" id="{E402ADC9-7C48-BD80-398C-8995A254DF84}"/>
              </a:ext>
            </a:extLst>
          </p:cNvPr>
          <p:cNvSpPr/>
          <p:nvPr/>
        </p:nvSpPr>
        <p:spPr>
          <a:xfrm>
            <a:off x="9432950" y="6455664"/>
            <a:ext cx="2088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hình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kinh</a:t>
            </a:r>
            <a:r>
              <a:rPr lang="en-US" sz="900" dirty="0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8A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doanh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28335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1360</Words>
  <Application>Microsoft Office PowerPoint</Application>
  <PresentationFormat>Custom</PresentationFormat>
  <Paragraphs>187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Noto Sans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Diệu Vũ</cp:lastModifiedBy>
  <cp:revision>2</cp:revision>
  <dcterms:created xsi:type="dcterms:W3CDTF">2026-07-18T15:06:18Z</dcterms:created>
  <dcterms:modified xsi:type="dcterms:W3CDTF">2026-07-19T02:14:24Z</dcterms:modified>
</cp:coreProperties>
</file>